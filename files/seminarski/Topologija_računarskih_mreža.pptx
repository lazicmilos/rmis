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vod" id="{4c17c1c8-7645-9636-cfb9-dfb1f0c008c5}">
          <p14:sldIdLst>
            <p14:sldId id="256"/>
            <p14:sldId id="257"/>
          </p14:sldIdLst>
        </p14:section>
        <p14:section name="Osnovni pojmovi" id="{03362d55-b56f-0d4b-f816-8ec0aa9dc89a}">
          <p14:sldIdLst>
            <p14:sldId id="258"/>
            <p14:sldId id="259"/>
            <p14:sldId id="260"/>
          </p14:sldIdLst>
        </p14:section>
        <p14:section name="Topologije" id="{d2ae1881-03f3-37e6-c1a6-e7172b0fb3db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oređenje" id="{a99797b9-1e8c-4a23-f916-ec97955e1180}">
          <p14:sldIdLst>
            <p14:sldId id="268"/>
            <p14:sldId id="269"/>
          </p14:sldIdLst>
        </p14:section>
        <p14:section name="Zaključak" id="{70495291-7144-c32e-70fe-a0e61d75963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51206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DRZAJ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Topologija računarskih mreža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VRSNI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Topologija računarskih mreža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Milos Lazic</a:t>
            </a:r>
            <a:endParaRPr lang="en-US" sz="2000" dirty="0"/>
          </a:p>
        </p:txBody>
      </p:sp>
      <p:sp>
        <p:nvSpPr>
          <p:cNvPr id="4" name="Dekor link 1"/>
          <p:cNvSpPr/>
          <p:nvPr/>
        </p:nvSpPr>
        <p:spPr>
          <a:xfrm flipV="1">
            <a:off x="6400800" y="868680"/>
            <a:ext cx="1463040" cy="2286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5" name="Dekor link 2"/>
          <p:cNvSpPr/>
          <p:nvPr/>
        </p:nvSpPr>
        <p:spPr>
          <a:xfrm>
            <a:off x="6400800" y="1097280"/>
            <a:ext cx="685800" cy="11430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6" name="Dekor link 3"/>
          <p:cNvSpPr/>
          <p:nvPr/>
        </p:nvSpPr>
        <p:spPr>
          <a:xfrm>
            <a:off x="7863840" y="868680"/>
            <a:ext cx="594360" cy="11430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7" name="Dekor link 4"/>
          <p:cNvSpPr/>
          <p:nvPr/>
        </p:nvSpPr>
        <p:spPr>
          <a:xfrm flipH="1">
            <a:off x="7086600" y="868680"/>
            <a:ext cx="777240" cy="13716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8" name="Dekor link 5"/>
          <p:cNvSpPr/>
          <p:nvPr/>
        </p:nvSpPr>
        <p:spPr>
          <a:xfrm flipH="1">
            <a:off x="7086600" y="2011680"/>
            <a:ext cx="1371600" cy="2286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9" name="Dekor link 6"/>
          <p:cNvSpPr/>
          <p:nvPr/>
        </p:nvSpPr>
        <p:spPr>
          <a:xfrm flipH="1">
            <a:off x="6035040" y="2240280"/>
            <a:ext cx="1051560" cy="8229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0" name="Dekor link 7"/>
          <p:cNvSpPr/>
          <p:nvPr/>
        </p:nvSpPr>
        <p:spPr>
          <a:xfrm>
            <a:off x="7086600" y="2240280"/>
            <a:ext cx="640080" cy="10515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1" name="Dekor link 8"/>
          <p:cNvSpPr/>
          <p:nvPr/>
        </p:nvSpPr>
        <p:spPr>
          <a:xfrm flipH="1">
            <a:off x="7726680" y="2011680"/>
            <a:ext cx="731520" cy="12801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2" name="Dekor link 9"/>
          <p:cNvSpPr/>
          <p:nvPr/>
        </p:nvSpPr>
        <p:spPr>
          <a:xfrm>
            <a:off x="6035040" y="3063240"/>
            <a:ext cx="685800" cy="10972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3" name="Dekor link 10"/>
          <p:cNvSpPr/>
          <p:nvPr/>
        </p:nvSpPr>
        <p:spPr>
          <a:xfrm flipH="1">
            <a:off x="6720840" y="3291840"/>
            <a:ext cx="1005840" cy="86868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4" name="Dekor link 11"/>
          <p:cNvSpPr/>
          <p:nvPr/>
        </p:nvSpPr>
        <p:spPr>
          <a:xfrm>
            <a:off x="7726680" y="3291840"/>
            <a:ext cx="594360" cy="9144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5" name="Dekor link 12"/>
          <p:cNvSpPr/>
          <p:nvPr/>
        </p:nvSpPr>
        <p:spPr>
          <a:xfrm flipV="1">
            <a:off x="6035040" y="1097280"/>
            <a:ext cx="365760" cy="196596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6" name="Dekor čvor 13"/>
          <p:cNvSpPr/>
          <p:nvPr/>
        </p:nvSpPr>
        <p:spPr>
          <a:xfrm>
            <a:off x="6263640" y="96012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7" name="Dekor čvor 14"/>
          <p:cNvSpPr/>
          <p:nvPr/>
        </p:nvSpPr>
        <p:spPr>
          <a:xfrm>
            <a:off x="7726680" y="73152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8" name="Dekor čvor 15"/>
          <p:cNvSpPr/>
          <p:nvPr/>
        </p:nvSpPr>
        <p:spPr>
          <a:xfrm>
            <a:off x="8321040" y="187452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19" name="Dekor čvor 16"/>
          <p:cNvSpPr/>
          <p:nvPr/>
        </p:nvSpPr>
        <p:spPr>
          <a:xfrm>
            <a:off x="6858000" y="2011680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0" name="Dekor čvor 17"/>
          <p:cNvSpPr/>
          <p:nvPr/>
        </p:nvSpPr>
        <p:spPr>
          <a:xfrm>
            <a:off x="5897880" y="29260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1" name="Dekor čvor 18"/>
          <p:cNvSpPr/>
          <p:nvPr/>
        </p:nvSpPr>
        <p:spPr>
          <a:xfrm>
            <a:off x="7589520" y="31546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2" name="Dekor čvor 19"/>
          <p:cNvSpPr/>
          <p:nvPr/>
        </p:nvSpPr>
        <p:spPr>
          <a:xfrm>
            <a:off x="6583680" y="402336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3" name="Dekor čvor 20"/>
          <p:cNvSpPr/>
          <p:nvPr/>
        </p:nvSpPr>
        <p:spPr>
          <a:xfrm>
            <a:off x="8183880" y="40690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Šta je računarska mreža?</a:t>
            </a:r>
            <a:endParaRPr lang="en-US" sz="3000" dirty="0"/>
          </a:p>
        </p:txBody>
      </p:sp>
      <p:sp>
        <p:nvSpPr>
          <p:cNvPr id="3" name="Kartica 21"/>
          <p:cNvSpPr/>
          <p:nvPr/>
        </p:nvSpPr>
        <p:spPr>
          <a:xfrm>
            <a:off x="457200" y="1143000"/>
            <a:ext cx="51206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61872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Računarska mreža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je grupa nezavisnih i međusobno povezanih uređaja koji uzajamno koriste resurse jedni drugih.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Resursi: podaci, štampači, internet veza, prostor za skladištenje…</a:t>
            </a:r>
            <a:endParaRPr lang="en-US" sz="1700" dirty="0"/>
          </a:p>
        </p:txBody>
      </p:sp>
      <p:sp>
        <p:nvSpPr>
          <p:cNvPr id="5" name="Link 22"/>
          <p:cNvSpPr/>
          <p:nvPr/>
        </p:nvSpPr>
        <p:spPr>
          <a:xfrm flipV="1">
            <a:off x="6309360" y="1280160"/>
            <a:ext cx="1097280" cy="1371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" name="Link 23"/>
          <p:cNvSpPr/>
          <p:nvPr/>
        </p:nvSpPr>
        <p:spPr>
          <a:xfrm>
            <a:off x="7406640" y="1280160"/>
            <a:ext cx="1005840" cy="4114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Link 24"/>
          <p:cNvSpPr/>
          <p:nvPr/>
        </p:nvSpPr>
        <p:spPr>
          <a:xfrm>
            <a:off x="6309360" y="1417320"/>
            <a:ext cx="365760" cy="10058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Link 25"/>
          <p:cNvSpPr/>
          <p:nvPr/>
        </p:nvSpPr>
        <p:spPr>
          <a:xfrm flipH="1">
            <a:off x="6675120" y="1280160"/>
            <a:ext cx="731520" cy="11430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Link 26"/>
          <p:cNvSpPr/>
          <p:nvPr/>
        </p:nvSpPr>
        <p:spPr>
          <a:xfrm>
            <a:off x="7406640" y="1280160"/>
            <a:ext cx="457200" cy="11887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0" name="Link 27"/>
          <p:cNvSpPr/>
          <p:nvPr/>
        </p:nvSpPr>
        <p:spPr>
          <a:xfrm flipH="1">
            <a:off x="7863840" y="1691640"/>
            <a:ext cx="548640" cy="7772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Link 28"/>
          <p:cNvSpPr/>
          <p:nvPr/>
        </p:nvSpPr>
        <p:spPr>
          <a:xfrm>
            <a:off x="6675120" y="2423160"/>
            <a:ext cx="1188720" cy="457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2" name="Čvor 29"/>
          <p:cNvSpPr/>
          <p:nvPr/>
        </p:nvSpPr>
        <p:spPr>
          <a:xfrm>
            <a:off x="6144768" y="125272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Čvor 30"/>
          <p:cNvSpPr/>
          <p:nvPr/>
        </p:nvSpPr>
        <p:spPr>
          <a:xfrm>
            <a:off x="7196328" y="1069848"/>
            <a:ext cx="420624" cy="42062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Čvor 31"/>
          <p:cNvSpPr/>
          <p:nvPr/>
        </p:nvSpPr>
        <p:spPr>
          <a:xfrm>
            <a:off x="8247888" y="152704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Čvor 32"/>
          <p:cNvSpPr/>
          <p:nvPr/>
        </p:nvSpPr>
        <p:spPr>
          <a:xfrm>
            <a:off x="6510528" y="225856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Čvor 33"/>
          <p:cNvSpPr/>
          <p:nvPr/>
        </p:nvSpPr>
        <p:spPr>
          <a:xfrm>
            <a:off x="7699248" y="230428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Prenosni medijumi</a:t>
            </a:r>
            <a:endParaRPr lang="en-US" sz="1500" dirty="0"/>
          </a:p>
        </p:txBody>
      </p:sp>
      <p:sp>
        <p:nvSpPr>
          <p:cNvPr id="18" name="Kartica 34"/>
          <p:cNvSpPr/>
          <p:nvPr/>
        </p:nvSpPr>
        <p:spPr>
          <a:xfrm>
            <a:off x="457200" y="3273552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Čvor 35"/>
          <p:cNvSpPr/>
          <p:nvPr/>
        </p:nvSpPr>
        <p:spPr>
          <a:xfrm>
            <a:off x="630936" y="3429000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33832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Bakarni kabl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7764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Informaciju prenosi električni signal (upredene parice, koaksijalni kabl)</a:t>
            </a:r>
            <a:endParaRPr lang="en-US" sz="1300" dirty="0"/>
          </a:p>
        </p:txBody>
      </p:sp>
      <p:sp>
        <p:nvSpPr>
          <p:cNvPr id="22" name="Kartica 36"/>
          <p:cNvSpPr/>
          <p:nvPr/>
        </p:nvSpPr>
        <p:spPr>
          <a:xfrm>
            <a:off x="3291840" y="3273552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3" name="Čvor 37"/>
          <p:cNvSpPr/>
          <p:nvPr/>
        </p:nvSpPr>
        <p:spPr>
          <a:xfrm>
            <a:off x="3465576" y="3429000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94760" y="33832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Optički kabl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456432" y="37764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Prenos svetlosnim signalom; velike brzine i velika rastojanja</a:t>
            </a:r>
            <a:endParaRPr lang="en-US" sz="1300" dirty="0"/>
          </a:p>
        </p:txBody>
      </p:sp>
      <p:sp>
        <p:nvSpPr>
          <p:cNvPr id="26" name="Kartica 38"/>
          <p:cNvSpPr/>
          <p:nvPr/>
        </p:nvSpPr>
        <p:spPr>
          <a:xfrm>
            <a:off x="6126480" y="3273552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rgbClr val="C9D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7" name="Čvor 39"/>
          <p:cNvSpPr/>
          <p:nvPr/>
        </p:nvSpPr>
        <p:spPr>
          <a:xfrm>
            <a:off x="6300216" y="3429000"/>
            <a:ext cx="237744" cy="23774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33832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Bežični prenos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37764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Radio talasi (Wi-Fi 2,4 i 5 GHz), infracrveni signali, satelitski mikrotalasi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Čvor, link, ruta i ruter</a:t>
            </a:r>
            <a:endParaRPr lang="en-US" sz="3000" dirty="0"/>
          </a:p>
        </p:txBody>
      </p:sp>
      <p:sp>
        <p:nvSpPr>
          <p:cNvPr id="3" name="Dijagram 40"/>
          <p:cNvSpPr/>
          <p:nvPr/>
        </p:nvSpPr>
        <p:spPr>
          <a:xfrm>
            <a:off x="457200" y="1143000"/>
            <a:ext cx="4846320" cy="3447288"/>
          </a:xfrm>
          <a:prstGeom prst="roundRect">
            <a:avLst>
              <a:gd name="adj" fmla="val 2653"/>
            </a:avLst>
          </a:prstGeom>
          <a:solidFill>
            <a:schemeClr val="bg2"/>
          </a:solidFill>
          <a:ln/>
        </p:spPr>
      </p:sp>
      <p:sp>
        <p:nvSpPr>
          <p:cNvPr id="4" name="Link 41"/>
          <p:cNvSpPr/>
          <p:nvPr/>
        </p:nvSpPr>
        <p:spPr>
          <a:xfrm flipV="1">
            <a:off x="1404159" y="2088126"/>
            <a:ext cx="986442" cy="350028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Link 42"/>
          <p:cNvSpPr/>
          <p:nvPr/>
        </p:nvSpPr>
        <p:spPr>
          <a:xfrm flipH="1">
            <a:off x="2526308" y="2239980"/>
            <a:ext cx="68025" cy="13264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Link 43"/>
          <p:cNvSpPr/>
          <p:nvPr/>
        </p:nvSpPr>
        <p:spPr>
          <a:xfrm>
            <a:off x="2832635" y="2041893"/>
            <a:ext cx="873092" cy="11641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7" name="Link 44"/>
          <p:cNvSpPr/>
          <p:nvPr/>
        </p:nvSpPr>
        <p:spPr>
          <a:xfrm>
            <a:off x="3977640" y="2468880"/>
            <a:ext cx="0" cy="9144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8" name="Link 45"/>
          <p:cNvSpPr/>
          <p:nvPr/>
        </p:nvSpPr>
        <p:spPr>
          <a:xfrm>
            <a:off x="1353175" y="2673384"/>
            <a:ext cx="996970" cy="962591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9" name="Link 46"/>
          <p:cNvSpPr/>
          <p:nvPr/>
        </p:nvSpPr>
        <p:spPr>
          <a:xfrm flipV="1">
            <a:off x="2741435" y="3640234"/>
            <a:ext cx="1009371" cy="126171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10" name="Link 47"/>
          <p:cNvSpPr/>
          <p:nvPr/>
        </p:nvSpPr>
        <p:spPr>
          <a:xfrm>
            <a:off x="4251960" y="2194560"/>
            <a:ext cx="3931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11" name="Čvor 48"/>
          <p:cNvSpPr/>
          <p:nvPr/>
        </p:nvSpPr>
        <p:spPr>
          <a:xfrm>
            <a:off x="960120" y="2286000"/>
            <a:ext cx="457200" cy="4572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77063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Izvor</a:t>
            </a:r>
            <a:endParaRPr lang="en-US" sz="1100" dirty="0"/>
          </a:p>
        </p:txBody>
      </p:sp>
      <p:sp>
        <p:nvSpPr>
          <p:cNvPr id="13" name="Čvor 49"/>
          <p:cNvSpPr/>
          <p:nvPr/>
        </p:nvSpPr>
        <p:spPr>
          <a:xfrm>
            <a:off x="2377440" y="178308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65960" y="15087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Čvor</a:t>
            </a:r>
            <a:endParaRPr lang="en-US" sz="1100" dirty="0"/>
          </a:p>
        </p:txBody>
      </p:sp>
      <p:sp>
        <p:nvSpPr>
          <p:cNvPr id="15" name="Čvor 50"/>
          <p:cNvSpPr/>
          <p:nvPr/>
        </p:nvSpPr>
        <p:spPr>
          <a:xfrm>
            <a:off x="2286000" y="356616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Čvor 51"/>
          <p:cNvSpPr/>
          <p:nvPr/>
        </p:nvSpPr>
        <p:spPr>
          <a:xfrm>
            <a:off x="3749040" y="3383280"/>
            <a:ext cx="457200" cy="4572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37560" y="386791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Odredište</a:t>
            </a:r>
            <a:endParaRPr lang="en-US" sz="1100" dirty="0"/>
          </a:p>
        </p:txBody>
      </p:sp>
      <p:sp>
        <p:nvSpPr>
          <p:cNvPr id="18" name="Čvor 52"/>
          <p:cNvSpPr/>
          <p:nvPr/>
        </p:nvSpPr>
        <p:spPr>
          <a:xfrm>
            <a:off x="3703320" y="1920240"/>
            <a:ext cx="548640" cy="5486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164592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Ruter</a:t>
            </a:r>
            <a:endParaRPr lang="en-US" sz="1100" dirty="0"/>
          </a:p>
        </p:txBody>
      </p:sp>
      <p:sp>
        <p:nvSpPr>
          <p:cNvPr id="20" name="Čvor 53"/>
          <p:cNvSpPr/>
          <p:nvPr/>
        </p:nvSpPr>
        <p:spPr>
          <a:xfrm>
            <a:off x="4645152" y="1993392"/>
            <a:ext cx="402336" cy="40233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34840" y="24414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Internet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1920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link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291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ruta</a:t>
            </a:r>
            <a:endParaRPr lang="en-US" sz="1100" dirty="0"/>
          </a:p>
        </p:txBody>
      </p:sp>
      <p:sp>
        <p:nvSpPr>
          <p:cNvPr id="24" name="Lista 54"/>
          <p:cNvSpPr txBox="1"/>
          <p:nvPr/>
        </p:nvSpPr>
        <p:spPr>
          <a:xfrm>
            <a:off x="5577840" y="11887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Čvor: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svaki umreženi uređaj; računar u mreži zove se radna stanica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Link: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veza koja neposredno spaja dva susedna čvora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Ruta: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linija veza (putanja) koja spaja dva čvora u mreži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Ruter: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uređaj koji spaja mrežu sa drugom mrežom ili Internetom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Izvor / odredište: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stanica koja šalje, odnosno prima podatke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Podela mreža prema veličini</a:t>
            </a:r>
            <a:endParaRPr lang="en-US" sz="3000" dirty="0"/>
          </a:p>
        </p:txBody>
      </p:sp>
      <p:sp>
        <p:nvSpPr>
          <p:cNvPr id="3" name="Čvor 55"/>
          <p:cNvSpPr/>
          <p:nvPr/>
        </p:nvSpPr>
        <p:spPr>
          <a:xfrm>
            <a:off x="1028700" y="1668780"/>
            <a:ext cx="685800" cy="6858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84048" y="283464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Personal Area Network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546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Nekoliko metara: lični uređaji (npr. Bluetooth)</a:t>
            </a:r>
            <a:endParaRPr lang="en-US" sz="1300" dirty="0"/>
          </a:p>
        </p:txBody>
      </p:sp>
      <p:sp>
        <p:nvSpPr>
          <p:cNvPr id="6" name="Link 56"/>
          <p:cNvSpPr/>
          <p:nvPr/>
        </p:nvSpPr>
        <p:spPr>
          <a:xfrm>
            <a:off x="1824228" y="2011680"/>
            <a:ext cx="108356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Čvor 57"/>
          <p:cNvSpPr/>
          <p:nvPr/>
        </p:nvSpPr>
        <p:spPr>
          <a:xfrm>
            <a:off x="3017520" y="1554480"/>
            <a:ext cx="914400" cy="9144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487168" y="283464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Local Area Network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1546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Prostorija, sprat ili zgrada; mali broj uređaja</a:t>
            </a:r>
            <a:endParaRPr lang="en-US" sz="1300" dirty="0"/>
          </a:p>
        </p:txBody>
      </p:sp>
      <p:sp>
        <p:nvSpPr>
          <p:cNvPr id="10" name="Link 58"/>
          <p:cNvSpPr/>
          <p:nvPr/>
        </p:nvSpPr>
        <p:spPr>
          <a:xfrm>
            <a:off x="4041648" y="2011680"/>
            <a:ext cx="85496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Čvor 59"/>
          <p:cNvSpPr/>
          <p:nvPr/>
        </p:nvSpPr>
        <p:spPr>
          <a:xfrm>
            <a:off x="5006340" y="1440180"/>
            <a:ext cx="1143000" cy="11430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83464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Metropolitan Area Network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1546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Više LAN mreža na području jednog grada</a:t>
            </a:r>
            <a:endParaRPr lang="en-US" sz="1300" dirty="0"/>
          </a:p>
        </p:txBody>
      </p:sp>
      <p:sp>
        <p:nvSpPr>
          <p:cNvPr id="14" name="Link 60"/>
          <p:cNvSpPr/>
          <p:nvPr/>
        </p:nvSpPr>
        <p:spPr>
          <a:xfrm>
            <a:off x="6259068" y="2011680"/>
            <a:ext cx="62636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Čvor 61"/>
          <p:cNvSpPr/>
          <p:nvPr/>
        </p:nvSpPr>
        <p:spPr>
          <a:xfrm>
            <a:off x="6995160" y="1325880"/>
            <a:ext cx="1371600" cy="13716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WAN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283464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Wide Area Network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1546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Više MAN mreža, kontinentalno ili globalno; najpoznatija je Internet</a:t>
            </a:r>
            <a:endParaRPr lang="en-US" sz="1300" dirty="0"/>
          </a:p>
        </p:txBody>
      </p:sp>
      <p:sp>
        <p:nvSpPr>
          <p:cNvPr id="18" name="Kartica 62"/>
          <p:cNvSpPr/>
          <p:nvPr/>
        </p:nvSpPr>
        <p:spPr>
          <a:xfrm>
            <a:off x="457200" y="4069080"/>
            <a:ext cx="822960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1148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Parametri poređenja: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geografska površina, broj čvorova, brzina prenosa, kašnjenje i topologija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Fizička i logička topologija</a:t>
            </a:r>
            <a:endParaRPr lang="en-US" sz="3000" dirty="0"/>
          </a:p>
        </p:txBody>
      </p:sp>
      <p:sp>
        <p:nvSpPr>
          <p:cNvPr id="3" name="Kartica 63"/>
          <p:cNvSpPr/>
          <p:nvPr/>
        </p:nvSpPr>
        <p:spPr>
          <a:xfrm>
            <a:off x="457200" y="114300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Fizička topologija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Stvarni raspored uređaja i kablova: kako je mreža ožičena.</a:t>
            </a:r>
            <a:endParaRPr lang="en-US" sz="1400" dirty="0"/>
          </a:p>
        </p:txBody>
      </p:sp>
      <p:sp>
        <p:nvSpPr>
          <p:cNvPr id="6" name="Link 64"/>
          <p:cNvSpPr/>
          <p:nvPr/>
        </p:nvSpPr>
        <p:spPr>
          <a:xfrm>
            <a:off x="2620596" y="3146376"/>
            <a:ext cx="155179" cy="155179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7" name="Čvor 65"/>
          <p:cNvSpPr/>
          <p:nvPr/>
        </p:nvSpPr>
        <p:spPr>
          <a:xfrm>
            <a:off x="2730245" y="325602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Link 66"/>
          <p:cNvSpPr/>
          <p:nvPr/>
        </p:nvSpPr>
        <p:spPr>
          <a:xfrm flipH="1">
            <a:off x="2116265" y="3146376"/>
            <a:ext cx="155179" cy="155179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9" name="Čvor 67"/>
          <p:cNvSpPr/>
          <p:nvPr/>
        </p:nvSpPr>
        <p:spPr>
          <a:xfrm>
            <a:off x="1850899" y="3256025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Link 68"/>
          <p:cNvSpPr/>
          <p:nvPr/>
        </p:nvSpPr>
        <p:spPr>
          <a:xfrm flipH="1" flipV="1">
            <a:off x="2116265" y="2642045"/>
            <a:ext cx="155179" cy="155179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1" name="Čvor 69"/>
          <p:cNvSpPr/>
          <p:nvPr/>
        </p:nvSpPr>
        <p:spPr>
          <a:xfrm>
            <a:off x="1850899" y="237667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Link 70"/>
          <p:cNvSpPr/>
          <p:nvPr/>
        </p:nvSpPr>
        <p:spPr>
          <a:xfrm flipV="1">
            <a:off x="2620596" y="2642045"/>
            <a:ext cx="155179" cy="155179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3" name="Čvor 71"/>
          <p:cNvSpPr/>
          <p:nvPr/>
        </p:nvSpPr>
        <p:spPr>
          <a:xfrm>
            <a:off x="2730245" y="2376679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Čvor 72"/>
          <p:cNvSpPr/>
          <p:nvPr/>
        </p:nvSpPr>
        <p:spPr>
          <a:xfrm>
            <a:off x="2199132" y="2724912"/>
            <a:ext cx="493776" cy="49377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Hub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474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fizički: zvezda</a:t>
            </a:r>
            <a:endParaRPr lang="en-US" sz="1200" dirty="0"/>
          </a:p>
        </p:txBody>
      </p:sp>
      <p:sp>
        <p:nvSpPr>
          <p:cNvPr id="16" name="Kartica 73"/>
          <p:cNvSpPr/>
          <p:nvPr/>
        </p:nvSpPr>
        <p:spPr>
          <a:xfrm>
            <a:off x="4709160" y="114300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1280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Logička topologija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1645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Put kojim podaci putuju: kako uređaji pristupaju medijumu.</a:t>
            </a:r>
            <a:endParaRPr lang="en-US" sz="1400" dirty="0"/>
          </a:p>
        </p:txBody>
      </p:sp>
      <p:sp>
        <p:nvSpPr>
          <p:cNvPr id="19" name="Link 74"/>
          <p:cNvSpPr/>
          <p:nvPr/>
        </p:nvSpPr>
        <p:spPr>
          <a:xfrm>
            <a:off x="5120640" y="3108960"/>
            <a:ext cx="31546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0" name="Link 75"/>
          <p:cNvSpPr/>
          <p:nvPr/>
        </p:nvSpPr>
        <p:spPr>
          <a:xfrm>
            <a:off x="5577840" y="2697480"/>
            <a:ext cx="0" cy="4114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1" name="Čvor 76"/>
          <p:cNvSpPr/>
          <p:nvPr/>
        </p:nvSpPr>
        <p:spPr>
          <a:xfrm>
            <a:off x="5422392" y="243230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Link 77"/>
          <p:cNvSpPr/>
          <p:nvPr/>
        </p:nvSpPr>
        <p:spPr>
          <a:xfrm>
            <a:off x="6327648" y="2697480"/>
            <a:ext cx="0" cy="4114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3" name="Čvor 78"/>
          <p:cNvSpPr/>
          <p:nvPr/>
        </p:nvSpPr>
        <p:spPr>
          <a:xfrm>
            <a:off x="6172200" y="243230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Link 79"/>
          <p:cNvSpPr/>
          <p:nvPr/>
        </p:nvSpPr>
        <p:spPr>
          <a:xfrm>
            <a:off x="7077456" y="2697480"/>
            <a:ext cx="0" cy="4114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5" name="Čvor 80"/>
          <p:cNvSpPr/>
          <p:nvPr/>
        </p:nvSpPr>
        <p:spPr>
          <a:xfrm>
            <a:off x="6922008" y="243230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Link 81"/>
          <p:cNvSpPr/>
          <p:nvPr/>
        </p:nvSpPr>
        <p:spPr>
          <a:xfrm>
            <a:off x="7827264" y="2697480"/>
            <a:ext cx="0" cy="4114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7" name="Čvor 82"/>
          <p:cNvSpPr/>
          <p:nvPr/>
        </p:nvSpPr>
        <p:spPr>
          <a:xfrm>
            <a:off x="7671816" y="2432304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474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logički: magistrala (signal stiže do svih)</a:t>
            </a:r>
            <a:endParaRPr lang="en-US" sz="1200" dirty="0"/>
          </a:p>
        </p:txBody>
      </p:sp>
      <p:sp>
        <p:nvSpPr>
          <p:cNvPr id="29" name="Kartica 83"/>
          <p:cNvSpPr/>
          <p:nvPr/>
        </p:nvSpPr>
        <p:spPr>
          <a:xfrm>
            <a:off x="457200" y="4005072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041648"/>
            <a:ext cx="7863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Primer: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Ethernet sa hub-om je fizički zvezda, a logički magistrala. Token Ring je fizički zvezda, a logički prsten.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Magistrala (bus)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Jedan glavni kabl koji dele sve radne stanice. Signal stiže do svih, a svaka stanica proverava adresu u paketu i prihvata samo poruke namenjene njoj.</a:t>
            </a:r>
            <a:endParaRPr lang="en-US" sz="1500" dirty="0"/>
          </a:p>
        </p:txBody>
      </p:sp>
      <p:sp>
        <p:nvSpPr>
          <p:cNvPr id="4" name="Dijagram 84"/>
          <p:cNvSpPr/>
          <p:nvPr/>
        </p:nvSpPr>
        <p:spPr>
          <a:xfrm>
            <a:off x="457200" y="1508760"/>
            <a:ext cx="3931920" cy="3081528"/>
          </a:xfrm>
          <a:prstGeom prst="roundRect">
            <a:avLst>
              <a:gd name="adj" fmla="val 2967"/>
            </a:avLst>
          </a:prstGeom>
          <a:solidFill>
            <a:schemeClr val="bg2"/>
          </a:solidFill>
          <a:ln/>
        </p:spPr>
      </p:sp>
      <p:sp>
        <p:nvSpPr>
          <p:cNvPr id="5" name="Magistrala 85"/>
          <p:cNvSpPr/>
          <p:nvPr/>
        </p:nvSpPr>
        <p:spPr>
          <a:xfrm>
            <a:off x="777240" y="2926080"/>
            <a:ext cx="3291840" cy="0"/>
          </a:xfrm>
          <a:prstGeom prst="line">
            <a:avLst/>
          </a:prstGeom>
          <a:noFill/>
          <a:ln w="50800">
            <a:solidFill>
              <a:schemeClr val="tx2"/>
            </a:solidFill>
            <a:prstDash val="solid"/>
          </a:ln>
        </p:spPr>
      </p:sp>
      <p:sp>
        <p:nvSpPr>
          <p:cNvPr id="6" name="Terminator 86"/>
          <p:cNvSpPr/>
          <p:nvPr/>
        </p:nvSpPr>
        <p:spPr>
          <a:xfrm>
            <a:off x="722376" y="2743200"/>
            <a:ext cx="109728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Terminator 87"/>
          <p:cNvSpPr/>
          <p:nvPr/>
        </p:nvSpPr>
        <p:spPr>
          <a:xfrm>
            <a:off x="4014216" y="2743200"/>
            <a:ext cx="109728" cy="3657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Link 88"/>
          <p:cNvSpPr/>
          <p:nvPr/>
        </p:nvSpPr>
        <p:spPr>
          <a:xfrm>
            <a:off x="1188720" y="2240280"/>
            <a:ext cx="0" cy="6858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Čvor 89"/>
          <p:cNvSpPr/>
          <p:nvPr/>
        </p:nvSpPr>
        <p:spPr>
          <a:xfrm>
            <a:off x="996696" y="204825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Link 90"/>
          <p:cNvSpPr/>
          <p:nvPr/>
        </p:nvSpPr>
        <p:spPr>
          <a:xfrm>
            <a:off x="1810512" y="2926080"/>
            <a:ext cx="0" cy="6858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Čvor 91"/>
          <p:cNvSpPr/>
          <p:nvPr/>
        </p:nvSpPr>
        <p:spPr>
          <a:xfrm>
            <a:off x="1618488" y="341985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Link 92"/>
          <p:cNvSpPr/>
          <p:nvPr/>
        </p:nvSpPr>
        <p:spPr>
          <a:xfrm>
            <a:off x="2432304" y="2240280"/>
            <a:ext cx="0" cy="6858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Čvor 93"/>
          <p:cNvSpPr/>
          <p:nvPr/>
        </p:nvSpPr>
        <p:spPr>
          <a:xfrm>
            <a:off x="2240280" y="204825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Link 94"/>
          <p:cNvSpPr/>
          <p:nvPr/>
        </p:nvSpPr>
        <p:spPr>
          <a:xfrm>
            <a:off x="3054096" y="2926080"/>
            <a:ext cx="0" cy="6858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5" name="Čvor 95"/>
          <p:cNvSpPr/>
          <p:nvPr/>
        </p:nvSpPr>
        <p:spPr>
          <a:xfrm>
            <a:off x="2862072" y="341985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Link 96"/>
          <p:cNvSpPr/>
          <p:nvPr/>
        </p:nvSpPr>
        <p:spPr>
          <a:xfrm>
            <a:off x="3675888" y="2240280"/>
            <a:ext cx="0" cy="6858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7" name="Čvor 97"/>
          <p:cNvSpPr/>
          <p:nvPr/>
        </p:nvSpPr>
        <p:spPr>
          <a:xfrm>
            <a:off x="3483864" y="204825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Glavni kabl sa terminatorima (žuto) na krajevima</a:t>
            </a:r>
            <a:endParaRPr lang="en-US" sz="1200" dirty="0"/>
          </a:p>
        </p:txBody>
      </p:sp>
      <p:sp>
        <p:nvSpPr>
          <p:cNvPr id="19" name="Prednosti 98"/>
          <p:cNvSpPr/>
          <p:nvPr/>
        </p:nvSpPr>
        <p:spPr>
          <a:xfrm>
            <a:off x="4663440" y="15087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0" name="Značka 99"/>
          <p:cNvSpPr/>
          <p:nvPr/>
        </p:nvSpPr>
        <p:spPr>
          <a:xfrm>
            <a:off x="4809744" y="1627632"/>
            <a:ext cx="310896" cy="31089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+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1627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Prednosti</a:t>
            </a:r>
            <a:endParaRPr lang="en-US" sz="1600" dirty="0"/>
          </a:p>
        </p:txBody>
      </p:sp>
      <p:sp>
        <p:nvSpPr>
          <p:cNvPr id="22" name="Lista 100"/>
          <p:cNvSpPr txBox="1"/>
          <p:nvPr/>
        </p:nvSpPr>
        <p:spPr>
          <a:xfrm>
            <a:off x="4846320" y="2011680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Najmanja količina kabla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Jednostavna i jeftina za postavljanje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Ispad jedne stanice ne zaustavlja mrežu</a:t>
            </a:r>
            <a:endParaRPr lang="en-US" sz="1400" dirty="0"/>
          </a:p>
        </p:txBody>
      </p:sp>
      <p:sp>
        <p:nvSpPr>
          <p:cNvPr id="23" name="Mane 101"/>
          <p:cNvSpPr/>
          <p:nvPr/>
        </p:nvSpPr>
        <p:spPr>
          <a:xfrm>
            <a:off x="4663440" y="3127248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4" name="Značka 102"/>
          <p:cNvSpPr/>
          <p:nvPr/>
        </p:nvSpPr>
        <p:spPr>
          <a:xfrm>
            <a:off x="4809744" y="324612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−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3246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Mane</a:t>
            </a:r>
            <a:endParaRPr lang="en-US" sz="1600" dirty="0"/>
          </a:p>
        </p:txBody>
      </p:sp>
      <p:sp>
        <p:nvSpPr>
          <p:cNvPr id="26" name="Lista 103"/>
          <p:cNvSpPr txBox="1"/>
          <p:nvPr/>
        </p:nvSpPr>
        <p:spPr>
          <a:xfrm>
            <a:off x="4846320" y="3630168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Prekid glavnog kabla ruši celu mrežu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Interferencija i kolizije signala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Performanse padaju sa brojem stanica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Prsten (ring)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Čvorovi su povezani u zatvoren krug. Podaci se kreću od čvora do čvora, uglavnom u jednom smeru; primalac vraća poruku sa bitom potvrde prijema.</a:t>
            </a:r>
            <a:endParaRPr lang="en-US" sz="1500" dirty="0"/>
          </a:p>
        </p:txBody>
      </p:sp>
      <p:sp>
        <p:nvSpPr>
          <p:cNvPr id="4" name="Dijagram 104"/>
          <p:cNvSpPr/>
          <p:nvPr/>
        </p:nvSpPr>
        <p:spPr>
          <a:xfrm>
            <a:off x="457200" y="1508760"/>
            <a:ext cx="3931920" cy="3081528"/>
          </a:xfrm>
          <a:prstGeom prst="roundRect">
            <a:avLst>
              <a:gd name="adj" fmla="val 2967"/>
            </a:avLst>
          </a:prstGeom>
          <a:solidFill>
            <a:schemeClr val="bg2"/>
          </a:solidFill>
          <a:ln/>
        </p:spPr>
      </p:sp>
      <p:sp>
        <p:nvSpPr>
          <p:cNvPr id="5" name="Link 105"/>
          <p:cNvSpPr/>
          <p:nvPr/>
        </p:nvSpPr>
        <p:spPr>
          <a:xfrm>
            <a:off x="2629052" y="2039112"/>
            <a:ext cx="403866" cy="233172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Link 106"/>
          <p:cNvSpPr/>
          <p:nvPr/>
        </p:nvSpPr>
        <p:spPr>
          <a:xfrm>
            <a:off x="3254648" y="2638044"/>
            <a:ext cx="0" cy="466344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Link 107"/>
          <p:cNvSpPr/>
          <p:nvPr/>
        </p:nvSpPr>
        <p:spPr>
          <a:xfrm flipH="1">
            <a:off x="2644890" y="3479292"/>
            <a:ext cx="403866" cy="233172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Link 108"/>
          <p:cNvSpPr/>
          <p:nvPr/>
        </p:nvSpPr>
        <p:spPr>
          <a:xfrm flipH="1" flipV="1">
            <a:off x="1813402" y="3488436"/>
            <a:ext cx="403866" cy="233172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Link 109"/>
          <p:cNvSpPr/>
          <p:nvPr/>
        </p:nvSpPr>
        <p:spPr>
          <a:xfrm flipV="1">
            <a:off x="1591672" y="2656332"/>
            <a:ext cx="0" cy="466344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Link 110"/>
          <p:cNvSpPr/>
          <p:nvPr/>
        </p:nvSpPr>
        <p:spPr>
          <a:xfrm flipV="1">
            <a:off x="1797564" y="2048256"/>
            <a:ext cx="403866" cy="233172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Čvor 111"/>
          <p:cNvSpPr/>
          <p:nvPr/>
        </p:nvSpPr>
        <p:spPr>
          <a:xfrm>
            <a:off x="2221992" y="1719072"/>
            <a:ext cx="402336" cy="40233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Čvor 112"/>
          <p:cNvSpPr/>
          <p:nvPr/>
        </p:nvSpPr>
        <p:spPr>
          <a:xfrm>
            <a:off x="3053480" y="2199132"/>
            <a:ext cx="402336" cy="40233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Čvor 113"/>
          <p:cNvSpPr/>
          <p:nvPr/>
        </p:nvSpPr>
        <p:spPr>
          <a:xfrm>
            <a:off x="3053480" y="3159252"/>
            <a:ext cx="402336" cy="40233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Čvor 114"/>
          <p:cNvSpPr/>
          <p:nvPr/>
        </p:nvSpPr>
        <p:spPr>
          <a:xfrm>
            <a:off x="2221992" y="3639312"/>
            <a:ext cx="402336" cy="40233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Čvor 115"/>
          <p:cNvSpPr/>
          <p:nvPr/>
        </p:nvSpPr>
        <p:spPr>
          <a:xfrm>
            <a:off x="1390504" y="3159252"/>
            <a:ext cx="402336" cy="40233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Čvor 116"/>
          <p:cNvSpPr/>
          <p:nvPr/>
        </p:nvSpPr>
        <p:spPr>
          <a:xfrm>
            <a:off x="1390504" y="2199132"/>
            <a:ext cx="402336" cy="40233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Podaci kruže u jednom smeru (strelice)</a:t>
            </a:r>
            <a:endParaRPr lang="en-US" sz="1200" dirty="0"/>
          </a:p>
        </p:txBody>
      </p:sp>
      <p:sp>
        <p:nvSpPr>
          <p:cNvPr id="18" name="Prednosti 117"/>
          <p:cNvSpPr/>
          <p:nvPr/>
        </p:nvSpPr>
        <p:spPr>
          <a:xfrm>
            <a:off x="4663440" y="15087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9" name="Značka 118"/>
          <p:cNvSpPr/>
          <p:nvPr/>
        </p:nvSpPr>
        <p:spPr>
          <a:xfrm>
            <a:off x="4809744" y="1627632"/>
            <a:ext cx="310896" cy="31089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+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1627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Prednosti</a:t>
            </a:r>
            <a:endParaRPr lang="en-US" sz="1600" dirty="0"/>
          </a:p>
        </p:txBody>
      </p:sp>
      <p:sp>
        <p:nvSpPr>
          <p:cNvPr id="21" name="Lista 119"/>
          <p:cNvSpPr txBox="1"/>
          <p:nvPr/>
        </p:nvSpPr>
        <p:spPr>
          <a:xfrm>
            <a:off x="4846320" y="2011680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Nema kolizija (pristup po redu, npr. token)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Predvidljive performanse i pri opterećenju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Moguća potvrda da je poruka primljena</a:t>
            </a:r>
            <a:endParaRPr lang="en-US" sz="1400" dirty="0"/>
          </a:p>
        </p:txBody>
      </p:sp>
      <p:sp>
        <p:nvSpPr>
          <p:cNvPr id="22" name="Mane 120"/>
          <p:cNvSpPr/>
          <p:nvPr/>
        </p:nvSpPr>
        <p:spPr>
          <a:xfrm>
            <a:off x="4663440" y="3127248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3" name="Značka 121"/>
          <p:cNvSpPr/>
          <p:nvPr/>
        </p:nvSpPr>
        <p:spPr>
          <a:xfrm>
            <a:off x="4809744" y="324612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−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3246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Mane</a:t>
            </a:r>
            <a:endParaRPr lang="en-US" sz="1600" dirty="0"/>
          </a:p>
        </p:txBody>
      </p:sp>
      <p:sp>
        <p:nvSpPr>
          <p:cNvPr id="25" name="Lista 122"/>
          <p:cNvSpPr txBox="1"/>
          <p:nvPr/>
        </p:nvSpPr>
        <p:spPr>
          <a:xfrm>
            <a:off x="4846320" y="3630168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Prekid jednog linka može prekinuti prsten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Kašnjenje raste sa brojem čvorova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Teže dodavanje i uklanjanje stanica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Zvezda (star)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Sve stanice su povezane sa centralnim uređajem (server, hub ili svič) kroz koji prolaze sve poruke. Jedan od najstarijih i danas najčešći oblik.</a:t>
            </a:r>
            <a:endParaRPr lang="en-US" sz="1500" dirty="0"/>
          </a:p>
        </p:txBody>
      </p:sp>
      <p:sp>
        <p:nvSpPr>
          <p:cNvPr id="4" name="Dijagram 123"/>
          <p:cNvSpPr/>
          <p:nvPr/>
        </p:nvSpPr>
        <p:spPr>
          <a:xfrm>
            <a:off x="457200" y="1508760"/>
            <a:ext cx="3931920" cy="3081528"/>
          </a:xfrm>
          <a:prstGeom prst="roundRect">
            <a:avLst>
              <a:gd name="adj" fmla="val 2967"/>
            </a:avLst>
          </a:prstGeom>
          <a:solidFill>
            <a:schemeClr val="bg2"/>
          </a:solidFill>
          <a:ln/>
        </p:spPr>
      </p:sp>
      <p:sp>
        <p:nvSpPr>
          <p:cNvPr id="5" name="Link 124"/>
          <p:cNvSpPr/>
          <p:nvPr/>
        </p:nvSpPr>
        <p:spPr>
          <a:xfrm flipV="1">
            <a:off x="2423160" y="2048256"/>
            <a:ext cx="0" cy="48463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Čvor 125"/>
          <p:cNvSpPr/>
          <p:nvPr/>
        </p:nvSpPr>
        <p:spPr>
          <a:xfrm>
            <a:off x="2231136" y="1664208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Link 126"/>
          <p:cNvSpPr/>
          <p:nvPr/>
        </p:nvSpPr>
        <p:spPr>
          <a:xfrm flipV="1">
            <a:off x="2708242" y="2455164"/>
            <a:ext cx="419704" cy="242316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8" name="Čvor 127"/>
          <p:cNvSpPr/>
          <p:nvPr/>
        </p:nvSpPr>
        <p:spPr>
          <a:xfrm>
            <a:off x="3102219" y="2167128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Link 128"/>
          <p:cNvSpPr/>
          <p:nvPr/>
        </p:nvSpPr>
        <p:spPr>
          <a:xfrm>
            <a:off x="2708242" y="3026664"/>
            <a:ext cx="419704" cy="242316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0" name="Čvor 129"/>
          <p:cNvSpPr/>
          <p:nvPr/>
        </p:nvSpPr>
        <p:spPr>
          <a:xfrm>
            <a:off x="3102219" y="3172968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Link 130"/>
          <p:cNvSpPr/>
          <p:nvPr/>
        </p:nvSpPr>
        <p:spPr>
          <a:xfrm>
            <a:off x="2423160" y="3191256"/>
            <a:ext cx="0" cy="48463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2" name="Čvor 131"/>
          <p:cNvSpPr/>
          <p:nvPr/>
        </p:nvSpPr>
        <p:spPr>
          <a:xfrm>
            <a:off x="2231136" y="3675888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Link 132"/>
          <p:cNvSpPr/>
          <p:nvPr/>
        </p:nvSpPr>
        <p:spPr>
          <a:xfrm flipH="1">
            <a:off x="1718375" y="3026664"/>
            <a:ext cx="419704" cy="242316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4" name="Čvor 133"/>
          <p:cNvSpPr/>
          <p:nvPr/>
        </p:nvSpPr>
        <p:spPr>
          <a:xfrm>
            <a:off x="1360053" y="3172968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Link 134"/>
          <p:cNvSpPr/>
          <p:nvPr/>
        </p:nvSpPr>
        <p:spPr>
          <a:xfrm flipH="1" flipV="1">
            <a:off x="1718375" y="2455164"/>
            <a:ext cx="419704" cy="242316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6" name="Čvor 135"/>
          <p:cNvSpPr/>
          <p:nvPr/>
        </p:nvSpPr>
        <p:spPr>
          <a:xfrm>
            <a:off x="1360053" y="2167128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Čvor 136"/>
          <p:cNvSpPr/>
          <p:nvPr/>
        </p:nvSpPr>
        <p:spPr>
          <a:xfrm>
            <a:off x="2093976" y="2532888"/>
            <a:ext cx="658368" cy="65836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Centar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Centralni uređaj: server, hub ili svič</a:t>
            </a:r>
            <a:endParaRPr lang="en-US" sz="1200" dirty="0"/>
          </a:p>
        </p:txBody>
      </p:sp>
      <p:sp>
        <p:nvSpPr>
          <p:cNvPr id="19" name="Prednosti 137"/>
          <p:cNvSpPr/>
          <p:nvPr/>
        </p:nvSpPr>
        <p:spPr>
          <a:xfrm>
            <a:off x="4663440" y="15087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0" name="Značka 138"/>
          <p:cNvSpPr/>
          <p:nvPr/>
        </p:nvSpPr>
        <p:spPr>
          <a:xfrm>
            <a:off x="4809744" y="1627632"/>
            <a:ext cx="310896" cy="31089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+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1627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Prednosti</a:t>
            </a:r>
            <a:endParaRPr lang="en-US" sz="1600" dirty="0"/>
          </a:p>
        </p:txBody>
      </p:sp>
      <p:sp>
        <p:nvSpPr>
          <p:cNvPr id="22" name="Lista 139"/>
          <p:cNvSpPr txBox="1"/>
          <p:nvPr/>
        </p:nvSpPr>
        <p:spPr>
          <a:xfrm>
            <a:off x="4846320" y="2011680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Lako dodavanje nove stanice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Kvar jednog kabla pogađa samo jednu stanicu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Lako praćenje saobraćaja i bezbednost</a:t>
            </a:r>
            <a:endParaRPr lang="en-US" sz="1400" dirty="0"/>
          </a:p>
        </p:txBody>
      </p:sp>
      <p:sp>
        <p:nvSpPr>
          <p:cNvPr id="23" name="Mane 140"/>
          <p:cNvSpPr/>
          <p:nvPr/>
        </p:nvSpPr>
        <p:spPr>
          <a:xfrm>
            <a:off x="4663440" y="3127248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4" name="Značka 141"/>
          <p:cNvSpPr/>
          <p:nvPr/>
        </p:nvSpPr>
        <p:spPr>
          <a:xfrm>
            <a:off x="4809744" y="324612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−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3246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Mane</a:t>
            </a:r>
            <a:endParaRPr lang="en-US" sz="1600" dirty="0"/>
          </a:p>
        </p:txBody>
      </p:sp>
      <p:sp>
        <p:nvSpPr>
          <p:cNvPr id="26" name="Lista 142"/>
          <p:cNvSpPr txBox="1"/>
          <p:nvPr/>
        </p:nvSpPr>
        <p:spPr>
          <a:xfrm>
            <a:off x="4846320" y="3630168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Pad centralnog uređaja ruši celu mrežu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Više kabla nego kod magistrale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Kapacitet centra ograničava mrežu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Višestruka zvezda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Dve ili više zvezda međusobno povezanih u zvezdu. Tipično za LAN u zgradama: svič na svakom spratu, povezan sa centralnim svičem.</a:t>
            </a:r>
            <a:endParaRPr lang="en-US" sz="1500" dirty="0"/>
          </a:p>
        </p:txBody>
      </p:sp>
      <p:sp>
        <p:nvSpPr>
          <p:cNvPr id="4" name="Dijagram 143"/>
          <p:cNvSpPr/>
          <p:nvPr/>
        </p:nvSpPr>
        <p:spPr>
          <a:xfrm>
            <a:off x="457200" y="1508760"/>
            <a:ext cx="3931920" cy="3081528"/>
          </a:xfrm>
          <a:prstGeom prst="roundRect">
            <a:avLst>
              <a:gd name="adj" fmla="val 2967"/>
            </a:avLst>
          </a:prstGeom>
          <a:solidFill>
            <a:schemeClr val="bg2"/>
          </a:solidFill>
          <a:ln/>
        </p:spPr>
      </p:sp>
      <p:sp>
        <p:nvSpPr>
          <p:cNvPr id="5" name="Link 144"/>
          <p:cNvSpPr/>
          <p:nvPr/>
        </p:nvSpPr>
        <p:spPr>
          <a:xfrm flipV="1">
            <a:off x="2423160" y="2377440"/>
            <a:ext cx="0" cy="301752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6" name="Link 145"/>
          <p:cNvSpPr/>
          <p:nvPr/>
        </p:nvSpPr>
        <p:spPr>
          <a:xfrm flipH="1" flipV="1">
            <a:off x="2178419" y="1922747"/>
            <a:ext cx="122371" cy="13590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Čvor 146"/>
          <p:cNvSpPr/>
          <p:nvPr/>
        </p:nvSpPr>
        <p:spPr>
          <a:xfrm>
            <a:off x="1949481" y="168365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Link 147"/>
          <p:cNvSpPr/>
          <p:nvPr/>
        </p:nvSpPr>
        <p:spPr>
          <a:xfrm flipV="1">
            <a:off x="2423160" y="1828800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Čvor 148"/>
          <p:cNvSpPr/>
          <p:nvPr/>
        </p:nvSpPr>
        <p:spPr>
          <a:xfrm>
            <a:off x="2286000" y="155448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Link 149"/>
          <p:cNvSpPr/>
          <p:nvPr/>
        </p:nvSpPr>
        <p:spPr>
          <a:xfrm flipV="1">
            <a:off x="2545531" y="1922747"/>
            <a:ext cx="122371" cy="13590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Čvor 150"/>
          <p:cNvSpPr/>
          <p:nvPr/>
        </p:nvSpPr>
        <p:spPr>
          <a:xfrm>
            <a:off x="2622519" y="168365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Čvor 151"/>
          <p:cNvSpPr/>
          <p:nvPr/>
        </p:nvSpPr>
        <p:spPr>
          <a:xfrm>
            <a:off x="2240280" y="201168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Link 152"/>
          <p:cNvSpPr/>
          <p:nvPr/>
        </p:nvSpPr>
        <p:spPr>
          <a:xfrm>
            <a:off x="2636971" y="3049524"/>
            <a:ext cx="261325" cy="150876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4" name="Link 153"/>
          <p:cNvSpPr/>
          <p:nvPr/>
        </p:nvSpPr>
        <p:spPr>
          <a:xfrm flipV="1">
            <a:off x="3235559" y="3215794"/>
            <a:ext cx="178884" cy="38023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5" name="Čvor 154"/>
          <p:cNvSpPr/>
          <p:nvPr/>
        </p:nvSpPr>
        <p:spPr>
          <a:xfrm>
            <a:off x="3411445" y="3050117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Link 155"/>
          <p:cNvSpPr/>
          <p:nvPr/>
        </p:nvSpPr>
        <p:spPr>
          <a:xfrm>
            <a:off x="3215054" y="3383280"/>
            <a:ext cx="158379" cy="914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7" name="Čvor 156"/>
          <p:cNvSpPr/>
          <p:nvPr/>
        </p:nvSpPr>
        <p:spPr>
          <a:xfrm>
            <a:off x="3355056" y="340614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Link 157"/>
          <p:cNvSpPr/>
          <p:nvPr/>
        </p:nvSpPr>
        <p:spPr>
          <a:xfrm>
            <a:off x="3113188" y="3465769"/>
            <a:ext cx="56513" cy="173929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9" name="Čvor 158"/>
          <p:cNvSpPr/>
          <p:nvPr/>
        </p:nvSpPr>
        <p:spPr>
          <a:xfrm>
            <a:off x="3074926" y="3632985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Čvor 159"/>
          <p:cNvSpPr/>
          <p:nvPr/>
        </p:nvSpPr>
        <p:spPr>
          <a:xfrm>
            <a:off x="2873795" y="310896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Link 160"/>
          <p:cNvSpPr/>
          <p:nvPr/>
        </p:nvSpPr>
        <p:spPr>
          <a:xfrm flipH="1">
            <a:off x="1948024" y="3049524"/>
            <a:ext cx="261325" cy="150876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2" name="Link 161"/>
          <p:cNvSpPr/>
          <p:nvPr/>
        </p:nvSpPr>
        <p:spPr>
          <a:xfrm flipH="1">
            <a:off x="1676619" y="3465769"/>
            <a:ext cx="56513" cy="173929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3" name="Čvor 162"/>
          <p:cNvSpPr/>
          <p:nvPr/>
        </p:nvSpPr>
        <p:spPr>
          <a:xfrm>
            <a:off x="1497074" y="3632985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Link 163"/>
          <p:cNvSpPr/>
          <p:nvPr/>
        </p:nvSpPr>
        <p:spPr>
          <a:xfrm flipH="1">
            <a:off x="1472888" y="3383280"/>
            <a:ext cx="158379" cy="914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5" name="Čvor 164"/>
          <p:cNvSpPr/>
          <p:nvPr/>
        </p:nvSpPr>
        <p:spPr>
          <a:xfrm>
            <a:off x="1216944" y="340614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Link 165"/>
          <p:cNvSpPr/>
          <p:nvPr/>
        </p:nvSpPr>
        <p:spPr>
          <a:xfrm flipH="1" flipV="1">
            <a:off x="1431878" y="3215794"/>
            <a:ext cx="178884" cy="38023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7" name="Čvor 166"/>
          <p:cNvSpPr/>
          <p:nvPr/>
        </p:nvSpPr>
        <p:spPr>
          <a:xfrm>
            <a:off x="1160555" y="3050117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8" name="Čvor 167"/>
          <p:cNvSpPr/>
          <p:nvPr/>
        </p:nvSpPr>
        <p:spPr>
          <a:xfrm>
            <a:off x="1606765" y="310896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9" name="Čvor 168"/>
          <p:cNvSpPr/>
          <p:nvPr/>
        </p:nvSpPr>
        <p:spPr>
          <a:xfrm>
            <a:off x="2176272" y="2679192"/>
            <a:ext cx="493776" cy="49377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Centralni čvor (tamno) i centri zvezda (žuto)</a:t>
            </a:r>
            <a:endParaRPr lang="en-US" sz="1200" dirty="0"/>
          </a:p>
        </p:txBody>
      </p:sp>
      <p:sp>
        <p:nvSpPr>
          <p:cNvPr id="31" name="Prednosti 169"/>
          <p:cNvSpPr/>
          <p:nvPr/>
        </p:nvSpPr>
        <p:spPr>
          <a:xfrm>
            <a:off x="4663440" y="15087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2" name="Značka 170"/>
          <p:cNvSpPr/>
          <p:nvPr/>
        </p:nvSpPr>
        <p:spPr>
          <a:xfrm>
            <a:off x="4809744" y="1627632"/>
            <a:ext cx="310896" cy="31089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+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212080" y="1627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Prednosti</a:t>
            </a:r>
            <a:endParaRPr lang="en-US" sz="1600" dirty="0"/>
          </a:p>
        </p:txBody>
      </p:sp>
      <p:sp>
        <p:nvSpPr>
          <p:cNvPr id="34" name="Lista 171"/>
          <p:cNvSpPr txBox="1"/>
          <p:nvPr/>
        </p:nvSpPr>
        <p:spPr>
          <a:xfrm>
            <a:off x="4846320" y="2011680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Kvar centra jedne zvezde ne ruši celu mrežu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Lako proširenje dodavanjem novih zvezda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Pregledna organizacija po celinama</a:t>
            </a:r>
            <a:endParaRPr lang="en-US" sz="1400" dirty="0"/>
          </a:p>
        </p:txBody>
      </p:sp>
      <p:sp>
        <p:nvSpPr>
          <p:cNvPr id="35" name="Mane 172"/>
          <p:cNvSpPr/>
          <p:nvPr/>
        </p:nvSpPr>
        <p:spPr>
          <a:xfrm>
            <a:off x="4663440" y="3127248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6" name="Značka 173"/>
          <p:cNvSpPr/>
          <p:nvPr/>
        </p:nvSpPr>
        <p:spPr>
          <a:xfrm>
            <a:off x="4809744" y="324612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−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212080" y="3246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Mane</a:t>
            </a:r>
            <a:endParaRPr lang="en-US" sz="1600" dirty="0"/>
          </a:p>
        </p:txBody>
      </p:sp>
      <p:sp>
        <p:nvSpPr>
          <p:cNvPr id="38" name="Lista 174"/>
          <p:cNvSpPr txBox="1"/>
          <p:nvPr/>
        </p:nvSpPr>
        <p:spPr>
          <a:xfrm>
            <a:off x="4846320" y="3630168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Kvar centralnog čvora razdvaja zvezde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Više opreme i kabla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Složenije upravljanje i održavanje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Potpuno povezana mreža (mesh)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Svaki čvor je direktno povezan sa svakim drugim. Kod delimično povezane mreže samo važni čvorovi imaju više veza.</a:t>
            </a:r>
            <a:endParaRPr lang="en-US" sz="1500" dirty="0"/>
          </a:p>
        </p:txBody>
      </p:sp>
      <p:sp>
        <p:nvSpPr>
          <p:cNvPr id="4" name="Dijagram 175"/>
          <p:cNvSpPr/>
          <p:nvPr/>
        </p:nvSpPr>
        <p:spPr>
          <a:xfrm>
            <a:off x="457200" y="1508760"/>
            <a:ext cx="3931920" cy="3081528"/>
          </a:xfrm>
          <a:prstGeom prst="roundRect">
            <a:avLst>
              <a:gd name="adj" fmla="val 2967"/>
            </a:avLst>
          </a:prstGeom>
          <a:solidFill>
            <a:schemeClr val="bg2"/>
          </a:solidFill>
          <a:ln/>
        </p:spPr>
      </p:sp>
      <p:sp>
        <p:nvSpPr>
          <p:cNvPr id="5" name="Link 176"/>
          <p:cNvSpPr/>
          <p:nvPr/>
        </p:nvSpPr>
        <p:spPr>
          <a:xfrm>
            <a:off x="2593306" y="1979850"/>
            <a:ext cx="616319" cy="44778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" name="Link 177"/>
          <p:cNvSpPr/>
          <p:nvPr/>
        </p:nvSpPr>
        <p:spPr>
          <a:xfrm>
            <a:off x="2488150" y="2056251"/>
            <a:ext cx="461238" cy="14195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Link 178"/>
          <p:cNvSpPr/>
          <p:nvPr/>
        </p:nvSpPr>
        <p:spPr>
          <a:xfrm flipH="1">
            <a:off x="1896932" y="2056251"/>
            <a:ext cx="461238" cy="141954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Link 179"/>
          <p:cNvSpPr/>
          <p:nvPr/>
        </p:nvSpPr>
        <p:spPr>
          <a:xfrm flipH="1">
            <a:off x="1636695" y="1979850"/>
            <a:ext cx="616319" cy="44778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Link 180"/>
          <p:cNvSpPr/>
          <p:nvPr/>
        </p:nvSpPr>
        <p:spPr>
          <a:xfrm flipH="1">
            <a:off x="3079368" y="2751269"/>
            <a:ext cx="235413" cy="72452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0" name="Link 181"/>
          <p:cNvSpPr/>
          <p:nvPr/>
        </p:nvSpPr>
        <p:spPr>
          <a:xfrm flipH="1">
            <a:off x="2002088" y="2674869"/>
            <a:ext cx="1207537" cy="877327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Link 182"/>
          <p:cNvSpPr/>
          <p:nvPr/>
        </p:nvSpPr>
        <p:spPr>
          <a:xfrm flipH="1" flipV="1">
            <a:off x="1676861" y="2551250"/>
            <a:ext cx="1492597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2" name="Link 183"/>
          <p:cNvSpPr/>
          <p:nvPr/>
        </p:nvSpPr>
        <p:spPr>
          <a:xfrm flipH="1">
            <a:off x="2042254" y="3675814"/>
            <a:ext cx="76181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Link 184"/>
          <p:cNvSpPr/>
          <p:nvPr/>
        </p:nvSpPr>
        <p:spPr>
          <a:xfrm flipH="1" flipV="1">
            <a:off x="1636695" y="2674869"/>
            <a:ext cx="1207537" cy="877327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4" name="Link 185"/>
          <p:cNvSpPr/>
          <p:nvPr/>
        </p:nvSpPr>
        <p:spPr>
          <a:xfrm flipH="1" flipV="1">
            <a:off x="1531539" y="2751269"/>
            <a:ext cx="235413" cy="72452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5" name="Čvor 186"/>
          <p:cNvSpPr/>
          <p:nvPr/>
        </p:nvSpPr>
        <p:spPr>
          <a:xfrm>
            <a:off x="2212848" y="1645920"/>
            <a:ext cx="420624" cy="42062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Čvor 187"/>
          <p:cNvSpPr/>
          <p:nvPr/>
        </p:nvSpPr>
        <p:spPr>
          <a:xfrm>
            <a:off x="3169459" y="2340938"/>
            <a:ext cx="420624" cy="42062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Čvor 188"/>
          <p:cNvSpPr/>
          <p:nvPr/>
        </p:nvSpPr>
        <p:spPr>
          <a:xfrm>
            <a:off x="2804066" y="3465502"/>
            <a:ext cx="420624" cy="42062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Čvor 189"/>
          <p:cNvSpPr/>
          <p:nvPr/>
        </p:nvSpPr>
        <p:spPr>
          <a:xfrm>
            <a:off x="1621630" y="3465502"/>
            <a:ext cx="420624" cy="42062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Čvor 190"/>
          <p:cNvSpPr/>
          <p:nvPr/>
        </p:nvSpPr>
        <p:spPr>
          <a:xfrm>
            <a:off x="1256237" y="2340938"/>
            <a:ext cx="420624" cy="42062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Broj linkova: n(n − 1) / 2  →  5 čvorova = 10 linkova</a:t>
            </a:r>
            <a:endParaRPr lang="en-US" sz="1200" dirty="0"/>
          </a:p>
        </p:txBody>
      </p:sp>
      <p:sp>
        <p:nvSpPr>
          <p:cNvPr id="21" name="Prednosti 191"/>
          <p:cNvSpPr/>
          <p:nvPr/>
        </p:nvSpPr>
        <p:spPr>
          <a:xfrm>
            <a:off x="4663440" y="15087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2" name="Značka 192"/>
          <p:cNvSpPr/>
          <p:nvPr/>
        </p:nvSpPr>
        <p:spPr>
          <a:xfrm>
            <a:off x="4809744" y="1627632"/>
            <a:ext cx="310896" cy="31089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+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1627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Prednosti</a:t>
            </a:r>
            <a:endParaRPr lang="en-US" sz="1600" dirty="0"/>
          </a:p>
        </p:txBody>
      </p:sp>
      <p:sp>
        <p:nvSpPr>
          <p:cNvPr id="24" name="Lista 193"/>
          <p:cNvSpPr txBox="1"/>
          <p:nvPr/>
        </p:nvSpPr>
        <p:spPr>
          <a:xfrm>
            <a:off x="4846320" y="2011680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Najveća pouzdanost: više putanja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Nema zagušenja jednog zajedničkog linka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Kvar je lako locirati i izolovati</a:t>
            </a:r>
            <a:endParaRPr lang="en-US" sz="1400" dirty="0"/>
          </a:p>
        </p:txBody>
      </p:sp>
      <p:sp>
        <p:nvSpPr>
          <p:cNvPr id="25" name="Mane 194"/>
          <p:cNvSpPr/>
          <p:nvPr/>
        </p:nvSpPr>
        <p:spPr>
          <a:xfrm>
            <a:off x="4663440" y="3127248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6" name="Značka 195"/>
          <p:cNvSpPr/>
          <p:nvPr/>
        </p:nvSpPr>
        <p:spPr>
          <a:xfrm>
            <a:off x="4809744" y="324612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−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3246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Mane</a:t>
            </a:r>
            <a:endParaRPr lang="en-US" sz="1600" dirty="0"/>
          </a:p>
        </p:txBody>
      </p:sp>
      <p:sp>
        <p:nvSpPr>
          <p:cNvPr id="28" name="Lista 196"/>
          <p:cNvSpPr txBox="1"/>
          <p:nvPr/>
        </p:nvSpPr>
        <p:spPr>
          <a:xfrm>
            <a:off x="4846320" y="3630168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Najviše kabla i mrežnih portova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Skupa i složena instalacija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Broj linkova brzo raste sa brojem čvorova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Stablo (tree)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Hijerarhijska struktura: koren se grana na niže nivoe. Predstavlja dalju razradu magistrale, pa za nju važe i osobine magistrale.</a:t>
            </a:r>
            <a:endParaRPr lang="en-US" sz="1500" dirty="0"/>
          </a:p>
        </p:txBody>
      </p:sp>
      <p:sp>
        <p:nvSpPr>
          <p:cNvPr id="4" name="Dijagram 197"/>
          <p:cNvSpPr/>
          <p:nvPr/>
        </p:nvSpPr>
        <p:spPr>
          <a:xfrm>
            <a:off x="457200" y="1508760"/>
            <a:ext cx="3931920" cy="3081528"/>
          </a:xfrm>
          <a:prstGeom prst="roundRect">
            <a:avLst>
              <a:gd name="adj" fmla="val 2967"/>
            </a:avLst>
          </a:prstGeom>
          <a:solidFill>
            <a:schemeClr val="bg2"/>
          </a:solidFill>
          <a:ln/>
        </p:spPr>
      </p:sp>
      <p:sp>
        <p:nvSpPr>
          <p:cNvPr id="5" name="Link 198"/>
          <p:cNvSpPr/>
          <p:nvPr/>
        </p:nvSpPr>
        <p:spPr>
          <a:xfrm flipH="1">
            <a:off x="1345758" y="2097518"/>
            <a:ext cx="890451" cy="626614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6" name="Link 199"/>
          <p:cNvSpPr/>
          <p:nvPr/>
        </p:nvSpPr>
        <p:spPr>
          <a:xfrm flipH="1">
            <a:off x="917860" y="3014204"/>
            <a:ext cx="202814" cy="53520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Čvor 200"/>
          <p:cNvSpPr/>
          <p:nvPr/>
        </p:nvSpPr>
        <p:spPr>
          <a:xfrm>
            <a:off x="694944" y="353872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Link 201"/>
          <p:cNvSpPr/>
          <p:nvPr/>
        </p:nvSpPr>
        <p:spPr>
          <a:xfrm>
            <a:off x="1256765" y="3014204"/>
            <a:ext cx="202814" cy="53520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Čvor 202"/>
          <p:cNvSpPr/>
          <p:nvPr/>
        </p:nvSpPr>
        <p:spPr>
          <a:xfrm>
            <a:off x="1353312" y="353872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Čvor 203"/>
          <p:cNvSpPr/>
          <p:nvPr/>
        </p:nvSpPr>
        <p:spPr>
          <a:xfrm>
            <a:off x="996696" y="2642616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Link 204"/>
          <p:cNvSpPr/>
          <p:nvPr/>
        </p:nvSpPr>
        <p:spPr>
          <a:xfrm>
            <a:off x="2423160" y="2194560"/>
            <a:ext cx="0" cy="448056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2" name="Link 205"/>
          <p:cNvSpPr/>
          <p:nvPr/>
        </p:nvSpPr>
        <p:spPr>
          <a:xfrm flipH="1">
            <a:off x="2152300" y="3014204"/>
            <a:ext cx="202814" cy="53520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Čvor 206"/>
          <p:cNvSpPr/>
          <p:nvPr/>
        </p:nvSpPr>
        <p:spPr>
          <a:xfrm>
            <a:off x="1929384" y="353872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Link 207"/>
          <p:cNvSpPr/>
          <p:nvPr/>
        </p:nvSpPr>
        <p:spPr>
          <a:xfrm>
            <a:off x="2491205" y="3014204"/>
            <a:ext cx="202814" cy="53520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5" name="Čvor 208"/>
          <p:cNvSpPr/>
          <p:nvPr/>
        </p:nvSpPr>
        <p:spPr>
          <a:xfrm>
            <a:off x="2587752" y="353872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Čvor 209"/>
          <p:cNvSpPr/>
          <p:nvPr/>
        </p:nvSpPr>
        <p:spPr>
          <a:xfrm>
            <a:off x="2231136" y="2642616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Link 210"/>
          <p:cNvSpPr/>
          <p:nvPr/>
        </p:nvSpPr>
        <p:spPr>
          <a:xfrm>
            <a:off x="2610111" y="2097518"/>
            <a:ext cx="890451" cy="626614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8" name="Link 211"/>
          <p:cNvSpPr/>
          <p:nvPr/>
        </p:nvSpPr>
        <p:spPr>
          <a:xfrm flipH="1">
            <a:off x="3386740" y="3014204"/>
            <a:ext cx="202814" cy="53520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9" name="Čvor 212"/>
          <p:cNvSpPr/>
          <p:nvPr/>
        </p:nvSpPr>
        <p:spPr>
          <a:xfrm>
            <a:off x="3163824" y="353872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Link 213"/>
          <p:cNvSpPr/>
          <p:nvPr/>
        </p:nvSpPr>
        <p:spPr>
          <a:xfrm>
            <a:off x="3725645" y="3014204"/>
            <a:ext cx="202814" cy="53520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1" name="Čvor 214"/>
          <p:cNvSpPr/>
          <p:nvPr/>
        </p:nvSpPr>
        <p:spPr>
          <a:xfrm>
            <a:off x="3822192" y="3538728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Čvor 215"/>
          <p:cNvSpPr/>
          <p:nvPr/>
        </p:nvSpPr>
        <p:spPr>
          <a:xfrm>
            <a:off x="3465576" y="2642616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3" name="Čvor 216"/>
          <p:cNvSpPr/>
          <p:nvPr/>
        </p:nvSpPr>
        <p:spPr>
          <a:xfrm>
            <a:off x="2194560" y="1737360"/>
            <a:ext cx="457200" cy="4572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Koren → grane → listovi</a:t>
            </a:r>
            <a:endParaRPr lang="en-US" sz="1200" dirty="0"/>
          </a:p>
        </p:txBody>
      </p:sp>
      <p:sp>
        <p:nvSpPr>
          <p:cNvPr id="25" name="Prednosti 217"/>
          <p:cNvSpPr/>
          <p:nvPr/>
        </p:nvSpPr>
        <p:spPr>
          <a:xfrm>
            <a:off x="4663440" y="15087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6" name="Značka 218"/>
          <p:cNvSpPr/>
          <p:nvPr/>
        </p:nvSpPr>
        <p:spPr>
          <a:xfrm>
            <a:off x="4809744" y="1627632"/>
            <a:ext cx="310896" cy="31089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+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1627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Prednosti</a:t>
            </a:r>
            <a:endParaRPr lang="en-US" sz="1600" dirty="0"/>
          </a:p>
        </p:txBody>
      </p:sp>
      <p:sp>
        <p:nvSpPr>
          <p:cNvPr id="28" name="Lista 219"/>
          <p:cNvSpPr txBox="1"/>
          <p:nvPr/>
        </p:nvSpPr>
        <p:spPr>
          <a:xfrm>
            <a:off x="4846320" y="2011680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Lako proširenje po nivoima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Hijerarhijska, pregledna organizacija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Kvar jedne grane ne utiče na ostale</a:t>
            </a:r>
            <a:endParaRPr lang="en-US" sz="1400" dirty="0"/>
          </a:p>
        </p:txBody>
      </p:sp>
      <p:sp>
        <p:nvSpPr>
          <p:cNvPr id="29" name="Mane 220"/>
          <p:cNvSpPr/>
          <p:nvPr/>
        </p:nvSpPr>
        <p:spPr>
          <a:xfrm>
            <a:off x="4663440" y="3127248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0" name="Značka 221"/>
          <p:cNvSpPr/>
          <p:nvPr/>
        </p:nvSpPr>
        <p:spPr>
          <a:xfrm>
            <a:off x="4809744" y="324612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−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3246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Mane</a:t>
            </a:r>
            <a:endParaRPr lang="en-US" sz="1600" dirty="0"/>
          </a:p>
        </p:txBody>
      </p:sp>
      <p:sp>
        <p:nvSpPr>
          <p:cNvPr id="32" name="Lista 222"/>
          <p:cNvSpPr txBox="1"/>
          <p:nvPr/>
        </p:nvSpPr>
        <p:spPr>
          <a:xfrm>
            <a:off x="4846320" y="3630168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Kvar korena ili okosnice ruši veći deo mreže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Više kabla nego kod magistrale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Složenija konfiguracija i održavanje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Hibridna topologija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Kombinacija dve ili više osnovnih topologija (npr. zvezda i prsten). Velike mreže, uključujući Internet, su po pravilu hibridne.</a:t>
            </a:r>
            <a:endParaRPr lang="en-US" sz="1500" dirty="0"/>
          </a:p>
        </p:txBody>
      </p:sp>
      <p:sp>
        <p:nvSpPr>
          <p:cNvPr id="4" name="Dijagram 223"/>
          <p:cNvSpPr/>
          <p:nvPr/>
        </p:nvSpPr>
        <p:spPr>
          <a:xfrm>
            <a:off x="457200" y="1508760"/>
            <a:ext cx="3931920" cy="3081528"/>
          </a:xfrm>
          <a:prstGeom prst="roundRect">
            <a:avLst>
              <a:gd name="adj" fmla="val 2967"/>
            </a:avLst>
          </a:prstGeom>
          <a:solidFill>
            <a:schemeClr val="bg2"/>
          </a:solidFill>
          <a:ln/>
        </p:spPr>
      </p:sp>
      <p:sp>
        <p:nvSpPr>
          <p:cNvPr id="5" name="Link 224"/>
          <p:cNvSpPr/>
          <p:nvPr/>
        </p:nvSpPr>
        <p:spPr>
          <a:xfrm flipH="1">
            <a:off x="3512596" y="2963956"/>
            <a:ext cx="308297" cy="308297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6" name="Link 225"/>
          <p:cNvSpPr/>
          <p:nvPr/>
        </p:nvSpPr>
        <p:spPr>
          <a:xfrm flipH="1" flipV="1">
            <a:off x="2945668" y="2963956"/>
            <a:ext cx="308297" cy="308297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7" name="Link 226"/>
          <p:cNvSpPr/>
          <p:nvPr/>
        </p:nvSpPr>
        <p:spPr>
          <a:xfrm flipV="1">
            <a:off x="2945668" y="2397028"/>
            <a:ext cx="308297" cy="308297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8" name="Link 227"/>
          <p:cNvSpPr/>
          <p:nvPr/>
        </p:nvSpPr>
        <p:spPr>
          <a:xfrm>
            <a:off x="3512596" y="2397028"/>
            <a:ext cx="308297" cy="308297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9" name="Link 228"/>
          <p:cNvSpPr/>
          <p:nvPr/>
        </p:nvSpPr>
        <p:spPr>
          <a:xfrm>
            <a:off x="1755648" y="2834640"/>
            <a:ext cx="877824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0" name="Link 229"/>
          <p:cNvSpPr/>
          <p:nvPr/>
        </p:nvSpPr>
        <p:spPr>
          <a:xfrm>
            <a:off x="1508760" y="3081528"/>
            <a:ext cx="0" cy="28346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Čvor 230"/>
          <p:cNvSpPr/>
          <p:nvPr/>
        </p:nvSpPr>
        <p:spPr>
          <a:xfrm>
            <a:off x="1353312" y="33649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Link 231"/>
          <p:cNvSpPr/>
          <p:nvPr/>
        </p:nvSpPr>
        <p:spPr>
          <a:xfrm flipH="1">
            <a:off x="1133745" y="3009216"/>
            <a:ext cx="200439" cy="200439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Čvor 232"/>
          <p:cNvSpPr/>
          <p:nvPr/>
        </p:nvSpPr>
        <p:spPr>
          <a:xfrm>
            <a:off x="868378" y="3164126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Link 233"/>
          <p:cNvSpPr/>
          <p:nvPr/>
        </p:nvSpPr>
        <p:spPr>
          <a:xfrm flipH="1">
            <a:off x="978408" y="2834640"/>
            <a:ext cx="28346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5" name="Čvor 234"/>
          <p:cNvSpPr/>
          <p:nvPr/>
        </p:nvSpPr>
        <p:spPr>
          <a:xfrm>
            <a:off x="667512" y="26791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Link 235"/>
          <p:cNvSpPr/>
          <p:nvPr/>
        </p:nvSpPr>
        <p:spPr>
          <a:xfrm flipH="1" flipV="1">
            <a:off x="1133745" y="2459625"/>
            <a:ext cx="200439" cy="200439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7" name="Čvor 236"/>
          <p:cNvSpPr/>
          <p:nvPr/>
        </p:nvSpPr>
        <p:spPr>
          <a:xfrm>
            <a:off x="868378" y="2194258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Link 237"/>
          <p:cNvSpPr/>
          <p:nvPr/>
        </p:nvSpPr>
        <p:spPr>
          <a:xfrm flipH="1" flipV="1">
            <a:off x="1508760" y="2304288"/>
            <a:ext cx="0" cy="28346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9" name="Čvor 238"/>
          <p:cNvSpPr/>
          <p:nvPr/>
        </p:nvSpPr>
        <p:spPr>
          <a:xfrm>
            <a:off x="1353312" y="1993392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Čvor 239"/>
          <p:cNvSpPr/>
          <p:nvPr/>
        </p:nvSpPr>
        <p:spPr>
          <a:xfrm>
            <a:off x="3767328" y="265176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Čvor 240"/>
          <p:cNvSpPr/>
          <p:nvPr/>
        </p:nvSpPr>
        <p:spPr>
          <a:xfrm>
            <a:off x="3200400" y="3218688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Čvor 241"/>
          <p:cNvSpPr/>
          <p:nvPr/>
        </p:nvSpPr>
        <p:spPr>
          <a:xfrm>
            <a:off x="2633472" y="2651760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3" name="Čvor 242"/>
          <p:cNvSpPr/>
          <p:nvPr/>
        </p:nvSpPr>
        <p:spPr>
          <a:xfrm>
            <a:off x="3200400" y="2084832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Čvor 243"/>
          <p:cNvSpPr/>
          <p:nvPr/>
        </p:nvSpPr>
        <p:spPr>
          <a:xfrm>
            <a:off x="1261872" y="2587752"/>
            <a:ext cx="493776" cy="49377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zvezda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834640" y="3721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prsten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Zvezda i prsten povezani jednim linkom (žuto)</a:t>
            </a:r>
            <a:endParaRPr lang="en-US" sz="1200" dirty="0"/>
          </a:p>
        </p:txBody>
      </p:sp>
      <p:sp>
        <p:nvSpPr>
          <p:cNvPr id="28" name="Prednosti 244"/>
          <p:cNvSpPr/>
          <p:nvPr/>
        </p:nvSpPr>
        <p:spPr>
          <a:xfrm>
            <a:off x="4663440" y="15087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9" name="Značka 245"/>
          <p:cNvSpPr/>
          <p:nvPr/>
        </p:nvSpPr>
        <p:spPr>
          <a:xfrm>
            <a:off x="4809744" y="1627632"/>
            <a:ext cx="310896" cy="310896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+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1627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Prednosti</a:t>
            </a:r>
            <a:endParaRPr lang="en-US" sz="1600" dirty="0"/>
          </a:p>
        </p:txBody>
      </p:sp>
      <p:sp>
        <p:nvSpPr>
          <p:cNvPr id="31" name="Lista 246"/>
          <p:cNvSpPr txBox="1"/>
          <p:nvPr/>
        </p:nvSpPr>
        <p:spPr>
          <a:xfrm>
            <a:off x="4846320" y="2011680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Fleksibilna: prilagođava se potrebama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Koristi prednosti više topologija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Lako proširenje i visoka pouzdanost</a:t>
            </a:r>
            <a:endParaRPr lang="en-US" sz="1400" dirty="0"/>
          </a:p>
        </p:txBody>
      </p:sp>
      <p:sp>
        <p:nvSpPr>
          <p:cNvPr id="32" name="Mane 247"/>
          <p:cNvSpPr/>
          <p:nvPr/>
        </p:nvSpPr>
        <p:spPr>
          <a:xfrm>
            <a:off x="4663440" y="3127248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3" name="Značka 248"/>
          <p:cNvSpPr/>
          <p:nvPr/>
        </p:nvSpPr>
        <p:spPr>
          <a:xfrm>
            <a:off x="4809744" y="324612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−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3246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Mane</a:t>
            </a:r>
            <a:endParaRPr lang="en-US" sz="1600" dirty="0"/>
          </a:p>
        </p:txBody>
      </p:sp>
      <p:sp>
        <p:nvSpPr>
          <p:cNvPr id="35" name="Lista 249"/>
          <p:cNvSpPr txBox="1"/>
          <p:nvPr/>
        </p:nvSpPr>
        <p:spPr>
          <a:xfrm>
            <a:off x="4846320" y="3630168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Složeno projektovanje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Skupa oprema i održavanje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Teže otkrivanje kvarova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Poređenje topologija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43000"/>
                <a:gridCol w="2057400"/>
                <a:gridCol w="1097280"/>
                <a:gridCol w="77724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Topologija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Količina kabla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Otpornost na kvar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Proširivanje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Cena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Tipična primena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Magistrala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Najmanja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Niska (glavni kabl)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Ograničeno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Niska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Stari Ethernet (koaksijalni)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Prsten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Mala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Niska (osim dvostrukog)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Otežano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Srednja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Token Ring, FDDI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Zvezda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Srednja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Srednja (zavisi od centra)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Lako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Srednja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Kućni i kancelarijski LAN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Mesh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Najveća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Vrlo visoka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Teško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Visoka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Okosnica Interneta, WAN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Stablo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Velika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Srednja (zavisi od korena)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Lako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Srednja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Kampus, velike organizacije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Hibridna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Promenljiva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Visoka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Lako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Visoka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Velike korporativne mreže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Kako izabrati topologiju?</a:t>
            </a:r>
            <a:endParaRPr lang="en-US" sz="3000" dirty="0"/>
          </a:p>
        </p:txBody>
      </p:sp>
      <p:sp>
        <p:nvSpPr>
          <p:cNvPr id="3" name="Link 250"/>
          <p:cNvSpPr/>
          <p:nvPr/>
        </p:nvSpPr>
        <p:spPr>
          <a:xfrm>
            <a:off x="1618488" y="1600200"/>
            <a:ext cx="87782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Čvor 251"/>
          <p:cNvSpPr/>
          <p:nvPr/>
        </p:nvSpPr>
        <p:spPr>
          <a:xfrm>
            <a:off x="923544" y="1289304"/>
            <a:ext cx="621792" cy="6217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Broj uređaja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9572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Koliko čvorova mreža povezuje sada i ubuduće</a:t>
            </a:r>
            <a:endParaRPr lang="en-US" sz="1300" dirty="0"/>
          </a:p>
        </p:txBody>
      </p:sp>
      <p:sp>
        <p:nvSpPr>
          <p:cNvPr id="7" name="Link 252"/>
          <p:cNvSpPr/>
          <p:nvPr/>
        </p:nvSpPr>
        <p:spPr>
          <a:xfrm>
            <a:off x="3264408" y="1600200"/>
            <a:ext cx="87782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8" name="Čvor 253"/>
          <p:cNvSpPr/>
          <p:nvPr/>
        </p:nvSpPr>
        <p:spPr>
          <a:xfrm>
            <a:off x="2569464" y="1289304"/>
            <a:ext cx="621792" cy="6217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Budžet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39572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Cena kabla, mrežnih portova i opreme</a:t>
            </a:r>
            <a:endParaRPr lang="en-US" sz="1300" dirty="0"/>
          </a:p>
        </p:txBody>
      </p:sp>
      <p:sp>
        <p:nvSpPr>
          <p:cNvPr id="11" name="Link 254"/>
          <p:cNvSpPr/>
          <p:nvPr/>
        </p:nvSpPr>
        <p:spPr>
          <a:xfrm>
            <a:off x="4910328" y="1600200"/>
            <a:ext cx="87782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2" name="Čvor 255"/>
          <p:cNvSpPr/>
          <p:nvPr/>
        </p:nvSpPr>
        <p:spPr>
          <a:xfrm>
            <a:off x="4215384" y="1289304"/>
            <a:ext cx="621792" cy="6217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Pouzdanost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39572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Koliko mreža sme da trpi kvar jednog dela</a:t>
            </a:r>
            <a:endParaRPr lang="en-US" sz="1300" dirty="0"/>
          </a:p>
        </p:txBody>
      </p:sp>
      <p:sp>
        <p:nvSpPr>
          <p:cNvPr id="15" name="Link 256"/>
          <p:cNvSpPr/>
          <p:nvPr/>
        </p:nvSpPr>
        <p:spPr>
          <a:xfrm>
            <a:off x="6556248" y="1600200"/>
            <a:ext cx="87782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6" name="Čvor 257"/>
          <p:cNvSpPr/>
          <p:nvPr/>
        </p:nvSpPr>
        <p:spPr>
          <a:xfrm>
            <a:off x="5861304" y="1289304"/>
            <a:ext cx="621792" cy="6217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Prostor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39572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Raspored prostorija i rastojanja između uređaja</a:t>
            </a:r>
            <a:endParaRPr lang="en-US" sz="1300" dirty="0"/>
          </a:p>
        </p:txBody>
      </p:sp>
      <p:sp>
        <p:nvSpPr>
          <p:cNvPr id="19" name="Čvor 258"/>
          <p:cNvSpPr/>
          <p:nvPr/>
        </p:nvSpPr>
        <p:spPr>
          <a:xfrm>
            <a:off x="7507224" y="1289304"/>
            <a:ext cx="621792" cy="6217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Proširivanje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39572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Koliko lako se dodaju novi uređaji</a:t>
            </a:r>
            <a:endParaRPr lang="en-US" sz="1300" dirty="0"/>
          </a:p>
        </p:txBody>
      </p:sp>
      <p:sp>
        <p:nvSpPr>
          <p:cNvPr id="22" name="Kartica 259"/>
          <p:cNvSpPr/>
          <p:nvPr/>
        </p:nvSpPr>
        <p:spPr>
          <a:xfrm>
            <a:off x="457200" y="3474720"/>
            <a:ext cx="8229600" cy="1115568"/>
          </a:xfrm>
          <a:prstGeom prst="roundRect">
            <a:avLst>
              <a:gd name="adj" fmla="val 8197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547872"/>
            <a:ext cx="7772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 praksi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Savremene LAN mreže su najčešće (višestruka) zvezda sa svičevima, dok su WAN mreže i okosnica Interneta delimično povezane (mesh), pa je celina hibridna.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Zaključak</a:t>
            </a:r>
            <a:endParaRPr lang="en-US" sz="3000" dirty="0"/>
          </a:p>
        </p:txBody>
      </p:sp>
      <p:sp>
        <p:nvSpPr>
          <p:cNvPr id="3" name="Zaključak kartica 260"/>
          <p:cNvSpPr/>
          <p:nvPr/>
        </p:nvSpPr>
        <p:spPr>
          <a:xfrm>
            <a:off x="45720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</p:spPr>
      </p:sp>
      <p:sp>
        <p:nvSpPr>
          <p:cNvPr id="4" name="Čvor 261"/>
          <p:cNvSpPr/>
          <p:nvPr/>
        </p:nvSpPr>
        <p:spPr>
          <a:xfrm>
            <a:off x="662940" y="1737360"/>
            <a:ext cx="502920" cy="5029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173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Topologija opisuje raspored čvorova i linkova, fizički i logički</a:t>
            </a:r>
            <a:endParaRPr lang="en-US" sz="1600" dirty="0"/>
          </a:p>
        </p:txBody>
      </p:sp>
      <p:sp>
        <p:nvSpPr>
          <p:cNvPr id="6" name="Zaključak kartica 262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</p:spPr>
      </p:sp>
      <p:sp>
        <p:nvSpPr>
          <p:cNvPr id="7" name="Čvor 263"/>
          <p:cNvSpPr/>
          <p:nvPr/>
        </p:nvSpPr>
        <p:spPr>
          <a:xfrm>
            <a:off x="4914900" y="173736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4173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Svaka topologija je kompromis između cene, količine kabla i pouzdanosti</a:t>
            </a:r>
            <a:endParaRPr lang="en-US" sz="1600" dirty="0"/>
          </a:p>
        </p:txBody>
      </p:sp>
      <p:sp>
        <p:nvSpPr>
          <p:cNvPr id="9" name="Zaključak kartica 264"/>
          <p:cNvSpPr/>
          <p:nvPr/>
        </p:nvSpPr>
        <p:spPr>
          <a:xfrm>
            <a:off x="457200" y="3063240"/>
            <a:ext cx="39776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</p:spPr>
      </p:sp>
      <p:sp>
        <p:nvSpPr>
          <p:cNvPr id="10" name="Čvor 265"/>
          <p:cNvSpPr/>
          <p:nvPr/>
        </p:nvSpPr>
        <p:spPr>
          <a:xfrm>
            <a:off x="662940" y="361188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918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Zvezda i višestruka zvezda dominiraju u današnjim LAN mrežama</a:t>
            </a:r>
            <a:endParaRPr lang="en-US" sz="1600" dirty="0"/>
          </a:p>
        </p:txBody>
      </p:sp>
      <p:sp>
        <p:nvSpPr>
          <p:cNvPr id="12" name="Zaključak kartica 266"/>
          <p:cNvSpPr/>
          <p:nvPr/>
        </p:nvSpPr>
        <p:spPr>
          <a:xfrm>
            <a:off x="4709160" y="3063240"/>
            <a:ext cx="39776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</p:spPr>
      </p:sp>
      <p:sp>
        <p:nvSpPr>
          <p:cNvPr id="13" name="Čvor 267"/>
          <p:cNvSpPr/>
          <p:nvPr/>
        </p:nvSpPr>
        <p:spPr>
          <a:xfrm>
            <a:off x="4914900" y="361188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32918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Velike mreže su hibridne; mesh veze daju redundansu u okosnici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reze">
  <a:themeElements>
    <a:clrScheme name="Mreze">
      <a:dk1>
        <a:srgbClr val="1B2430"/>
      </a:dk1>
      <a:lt1>
        <a:srgbClr val="FFFFFF"/>
      </a:lt1>
      <a:dk2>
        <a:srgbClr val="0E3B43"/>
      </a:dk2>
      <a:lt2>
        <a:srgbClr val="EAF2F2"/>
      </a:lt2>
      <a:accent1>
        <a:srgbClr val="0F8B8D"/>
      </a:accent1>
      <a:accent2>
        <a:srgbClr val="F2A541"/>
      </a:accent2>
      <a:accent3>
        <a:srgbClr val="D9534F"/>
      </a:accent3>
      <a:accent4>
        <a:srgbClr val="3E8E5E"/>
      </a:accent4>
      <a:accent5>
        <a:srgbClr val="5C6B73"/>
      </a:accent5>
      <a:accent6>
        <a:srgbClr val="9FD3D5"/>
      </a:accent6>
      <a:hlink>
        <a:srgbClr val="0F8B8D"/>
      </a:hlink>
      <a:folHlink>
        <a:srgbClr val="5C6B73"/>
      </a:folHlink>
    </a:clrScheme>
    <a:fontScheme name="Mrez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Topologija računarskih mreža</dc:title>
  <dc:subject>PptxGenJS Presentation</dc:subject>
  <dc:creator>Milos Lazic</dc:creator>
  <cp:lastModifiedBy>Milos Lazic</cp:lastModifiedBy>
  <cp:revision>1</cp:revision>
  <dcterms:created xsi:type="dcterms:W3CDTF">2026-10-27T19:46:46Z</dcterms:created>
  <dcterms:modified xsi:type="dcterms:W3CDTF">2026-10-27T19:46:46Z</dcterms:modified>
</cp:coreProperties>
</file>