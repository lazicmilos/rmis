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vod" id="{bd45aa45-5a82-5d88-68dc-9187e4cad5f7}">
          <p14:sldIdLst>
            <p14:sldId id="256"/>
            <p14:sldId id="257"/>
            <p14:sldId id="258"/>
          </p14:sldIdLst>
        </p14:section>
        <p14:section name="Model i slojevi" id="{379301f2-926e-a22b-fac6-3806c8bf9b0b}">
          <p14:sldIdLst>
            <p14:sldId id="259"/>
            <p14:sldId id="260"/>
            <p14:sldId id="261"/>
            <p14:sldId id="262"/>
            <p14:sldId id="263"/>
          </p14:sldIdLst>
        </p14:section>
        <p14:section name="IP adresiranje" id="{590842eb-b863-e7b7-b8c9-f35ed150d781}">
          <p14:sldIdLst>
            <p14:sldId id="264"/>
            <p14:sldId id="265"/>
            <p14:sldId id="266"/>
          </p14:sldIdLst>
        </p14:section>
        <p14:section name="Sloj mreže i sloj veze" id="{62475049-0584-432d-20a1-451b08d0be51}">
          <p14:sldIdLst>
            <p14:sldId id="267"/>
            <p14:sldId id="268"/>
          </p14:sldIdLst>
        </p14:section>
        <p14:section name="Transportni sloj" id="{4f5ff35e-fcf6-a632-fdb5-e7d0f8dfc37e}">
          <p14:sldIdLst>
            <p14:sldId id="269"/>
            <p14:sldId id="270"/>
          </p14:sldIdLst>
        </p14:section>
        <p14:section name="Aplikacioni sloj" id="{4d7a4d9e-07da-61f2-9c85-7fc64b638591}">
          <p14:sldIdLst>
            <p14:sldId id="271"/>
            <p14:sldId id="272"/>
          </p14:sldIdLst>
        </p14:section>
        <p14:section name="Zaključak" id="{17dc014a-293a-2964-1e27-362a6bcc7df9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51206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DRZAJ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TCP/IP protokol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VRSNI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protokol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Milos Lazic</a:t>
            </a:r>
            <a:endParaRPr lang="en-US" sz="2000" dirty="0"/>
          </a:p>
        </p:txBody>
      </p:sp>
      <p:sp>
        <p:nvSpPr>
          <p:cNvPr id="4" name="Dekor link 1"/>
          <p:cNvSpPr/>
          <p:nvPr/>
        </p:nvSpPr>
        <p:spPr>
          <a:xfrm flipV="1">
            <a:off x="6400800" y="868680"/>
            <a:ext cx="1463040" cy="2286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5" name="Dekor link 2"/>
          <p:cNvSpPr/>
          <p:nvPr/>
        </p:nvSpPr>
        <p:spPr>
          <a:xfrm>
            <a:off x="6400800" y="1097280"/>
            <a:ext cx="685800" cy="11430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" name="Dekor link 3"/>
          <p:cNvSpPr/>
          <p:nvPr/>
        </p:nvSpPr>
        <p:spPr>
          <a:xfrm>
            <a:off x="7863840" y="868680"/>
            <a:ext cx="594360" cy="11430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7" name="Dekor link 4"/>
          <p:cNvSpPr/>
          <p:nvPr/>
        </p:nvSpPr>
        <p:spPr>
          <a:xfrm flipH="1">
            <a:off x="7086600" y="868680"/>
            <a:ext cx="777240" cy="13716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8" name="Dekor link 5"/>
          <p:cNvSpPr/>
          <p:nvPr/>
        </p:nvSpPr>
        <p:spPr>
          <a:xfrm flipH="1">
            <a:off x="7086600" y="2011680"/>
            <a:ext cx="1371600" cy="2286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9" name="Dekor link 6"/>
          <p:cNvSpPr/>
          <p:nvPr/>
        </p:nvSpPr>
        <p:spPr>
          <a:xfrm flipH="1">
            <a:off x="6035040" y="2240280"/>
            <a:ext cx="1051560" cy="8229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0" name="Dekor link 7"/>
          <p:cNvSpPr/>
          <p:nvPr/>
        </p:nvSpPr>
        <p:spPr>
          <a:xfrm>
            <a:off x="7086600" y="2240280"/>
            <a:ext cx="640080" cy="10515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1" name="Dekor link 8"/>
          <p:cNvSpPr/>
          <p:nvPr/>
        </p:nvSpPr>
        <p:spPr>
          <a:xfrm flipH="1">
            <a:off x="7726680" y="2011680"/>
            <a:ext cx="731520" cy="12801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2" name="Dekor link 9"/>
          <p:cNvSpPr/>
          <p:nvPr/>
        </p:nvSpPr>
        <p:spPr>
          <a:xfrm>
            <a:off x="6035040" y="3063240"/>
            <a:ext cx="685800" cy="10972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3" name="Dekor link 10"/>
          <p:cNvSpPr/>
          <p:nvPr/>
        </p:nvSpPr>
        <p:spPr>
          <a:xfrm flipH="1">
            <a:off x="6720840" y="3291840"/>
            <a:ext cx="1005840" cy="8686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4" name="Dekor link 11"/>
          <p:cNvSpPr/>
          <p:nvPr/>
        </p:nvSpPr>
        <p:spPr>
          <a:xfrm>
            <a:off x="7726680" y="3291840"/>
            <a:ext cx="594360" cy="9144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5" name="Dekor link 12"/>
          <p:cNvSpPr/>
          <p:nvPr/>
        </p:nvSpPr>
        <p:spPr>
          <a:xfrm flipV="1">
            <a:off x="6035040" y="1097280"/>
            <a:ext cx="365760" cy="19659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6" name="Dekor čvor 13"/>
          <p:cNvSpPr/>
          <p:nvPr/>
        </p:nvSpPr>
        <p:spPr>
          <a:xfrm>
            <a:off x="6263640" y="96012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7" name="Dekor čvor 14"/>
          <p:cNvSpPr/>
          <p:nvPr/>
        </p:nvSpPr>
        <p:spPr>
          <a:xfrm>
            <a:off x="7726680" y="73152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8" name="Dekor čvor 15"/>
          <p:cNvSpPr/>
          <p:nvPr/>
        </p:nvSpPr>
        <p:spPr>
          <a:xfrm>
            <a:off x="8321040" y="187452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9" name="Dekor čvor 16"/>
          <p:cNvSpPr/>
          <p:nvPr/>
        </p:nvSpPr>
        <p:spPr>
          <a:xfrm>
            <a:off x="6858000" y="2011680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0" name="Dekor čvor 17"/>
          <p:cNvSpPr/>
          <p:nvPr/>
        </p:nvSpPr>
        <p:spPr>
          <a:xfrm>
            <a:off x="5897880" y="29260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1" name="Dekor čvor 18"/>
          <p:cNvSpPr/>
          <p:nvPr/>
        </p:nvSpPr>
        <p:spPr>
          <a:xfrm>
            <a:off x="7589520" y="31546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2" name="Dekor čvor 19"/>
          <p:cNvSpPr/>
          <p:nvPr/>
        </p:nvSpPr>
        <p:spPr>
          <a:xfrm>
            <a:off x="6583680" y="402336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3" name="Dekor čvor 20"/>
          <p:cNvSpPr/>
          <p:nvPr/>
        </p:nvSpPr>
        <p:spPr>
          <a:xfrm>
            <a:off x="8183880" y="40690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Šta je TCP/IP?</a:t>
            </a:r>
            <a:endParaRPr lang="en-US" sz="3000" dirty="0"/>
          </a:p>
        </p:txBody>
      </p:sp>
      <p:sp>
        <p:nvSpPr>
          <p:cNvPr id="3" name="Lista 21"/>
          <p:cNvSpPr txBox="1"/>
          <p:nvPr/>
        </p:nvSpPr>
        <p:spPr>
          <a:xfrm>
            <a:off x="457200" y="118872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Skup (familija) komunikacionih protokola na kome počiva Internet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Ime nosi po dva ključna protokola: TCP i IP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Određuje kako se podaci pakuju, adresiraju, prenose, usmeravaju i primaju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Otvoren standard, nezavisan od proizvođača, hardvera i operativnog sistema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Specifikacije objavljuje IETF u dokumentima RFC (Request for Comments)</a:t>
            </a:r>
            <a:endParaRPr lang="en-US" sz="1600" dirty="0"/>
          </a:p>
        </p:txBody>
      </p:sp>
      <p:sp>
        <p:nvSpPr>
          <p:cNvPr id="4" name="Kartica 22"/>
          <p:cNvSpPr/>
          <p:nvPr/>
        </p:nvSpPr>
        <p:spPr>
          <a:xfrm>
            <a:off x="5303520" y="1188720"/>
            <a:ext cx="33832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Čvor 23"/>
          <p:cNvSpPr/>
          <p:nvPr/>
        </p:nvSpPr>
        <p:spPr>
          <a:xfrm>
            <a:off x="5532120" y="1508760"/>
            <a:ext cx="914400" cy="9144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TCP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62940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Transmission Control Protocol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29400" y="19019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Pouzdan, uređen prenos podataka sa kraja na kraj veze</a:t>
            </a:r>
            <a:endParaRPr lang="en-US" sz="1300" dirty="0"/>
          </a:p>
        </p:txBody>
      </p:sp>
      <p:sp>
        <p:nvSpPr>
          <p:cNvPr id="8" name="Kartica 24"/>
          <p:cNvSpPr/>
          <p:nvPr/>
        </p:nvSpPr>
        <p:spPr>
          <a:xfrm>
            <a:off x="5303520" y="2971800"/>
            <a:ext cx="33832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Čvor 25"/>
          <p:cNvSpPr/>
          <p:nvPr/>
        </p:nvSpPr>
        <p:spPr>
          <a:xfrm>
            <a:off x="5532120" y="3291840"/>
            <a:ext cx="914400" cy="9144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IP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Internet Protocol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685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Logičko adresiranje i usmeravanje paketa kroz mreže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Istorijat: od ARPANET-a do Interneta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ARPANET je mreža koju je finansirala agencija ARPA (kasnije DARPA) Ministarstva odbrane SAD.</a:t>
            </a:r>
            <a:endParaRPr lang="en-US" sz="1500" dirty="0"/>
          </a:p>
        </p:txBody>
      </p:sp>
      <p:sp>
        <p:nvSpPr>
          <p:cNvPr id="4" name="Vremenska linija 26"/>
          <p:cNvSpPr/>
          <p:nvPr/>
        </p:nvSpPr>
        <p:spPr>
          <a:xfrm>
            <a:off x="1280160" y="2331720"/>
            <a:ext cx="658368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1969.</a:t>
            </a:r>
            <a:endParaRPr lang="en-US" sz="2000" dirty="0"/>
          </a:p>
        </p:txBody>
      </p:sp>
      <p:sp>
        <p:nvSpPr>
          <p:cNvPr id="6" name="Čvor 27"/>
          <p:cNvSpPr/>
          <p:nvPr/>
        </p:nvSpPr>
        <p:spPr>
          <a:xfrm>
            <a:off x="1097280" y="2148840"/>
            <a:ext cx="365760" cy="36576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269748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ARPANET povezuje prva 4 čvora (univerziteti u SAD)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1600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1974.</a:t>
            </a:r>
            <a:endParaRPr lang="en-US" sz="2000" dirty="0"/>
          </a:p>
        </p:txBody>
      </p:sp>
      <p:sp>
        <p:nvSpPr>
          <p:cNvPr id="9" name="Čvor 28"/>
          <p:cNvSpPr/>
          <p:nvPr/>
        </p:nvSpPr>
        <p:spPr>
          <a:xfrm>
            <a:off x="2743200" y="2148840"/>
            <a:ext cx="365760" cy="36576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76272" y="269748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Vint Cerf i Bob Kahn objavljuju rad o protokolu TCP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600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1981.</a:t>
            </a:r>
            <a:endParaRPr lang="en-US" sz="2000" dirty="0"/>
          </a:p>
        </p:txBody>
      </p:sp>
      <p:sp>
        <p:nvSpPr>
          <p:cNvPr id="12" name="Čvor 29"/>
          <p:cNvSpPr/>
          <p:nvPr/>
        </p:nvSpPr>
        <p:spPr>
          <a:xfrm>
            <a:off x="4389120" y="2148840"/>
            <a:ext cx="365760" cy="36576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22192" y="269748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IPv4 i TCP standardizovani (RFC 791 i RFC 793)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1600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1983.</a:t>
            </a:r>
            <a:endParaRPr lang="en-US" sz="2000" dirty="0"/>
          </a:p>
        </p:txBody>
      </p:sp>
      <p:sp>
        <p:nvSpPr>
          <p:cNvPr id="15" name="Čvor 30"/>
          <p:cNvSpPr/>
          <p:nvPr/>
        </p:nvSpPr>
        <p:spPr>
          <a:xfrm>
            <a:off x="6035040" y="2148840"/>
            <a:ext cx="365760" cy="36576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68112" y="269748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1. januara ARPANET u potpunosti prelazi na TCP/IP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600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1990-e</a:t>
            </a:r>
            <a:endParaRPr lang="en-US" sz="2000" dirty="0"/>
          </a:p>
        </p:txBody>
      </p:sp>
      <p:sp>
        <p:nvSpPr>
          <p:cNvPr id="18" name="Čvor 31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4032" y="269748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i komercijalni Internet; TCP/IP postaje globalni standard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Prelazak 1983. smatra se rođendanom današnjeg Interneta.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Četiri sloja TCP/IP modela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987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SLOJ I ULOGA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983480" y="987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PRIMERI PROTOKOLA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269480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JEDINICA PODATAKA</a:t>
            </a:r>
            <a:endParaRPr lang="en-US" sz="1100" dirty="0"/>
          </a:p>
        </p:txBody>
      </p:sp>
      <p:sp>
        <p:nvSpPr>
          <p:cNvPr id="6" name="Kartica 3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7" name="Čvor 33"/>
          <p:cNvSpPr/>
          <p:nvPr/>
        </p:nvSpPr>
        <p:spPr>
          <a:xfrm>
            <a:off x="640080" y="1453896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399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Aplikacioni sloj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700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Usluge za korisničke programe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3990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HTTP, HTTPS, DNS, FTP, SMTP, DHCP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39903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Podaci (poruka)</a:t>
            </a:r>
            <a:endParaRPr lang="en-US" sz="1400" dirty="0"/>
          </a:p>
        </p:txBody>
      </p:sp>
      <p:sp>
        <p:nvSpPr>
          <p:cNvPr id="12" name="Kartica 34"/>
          <p:cNvSpPr/>
          <p:nvPr/>
        </p:nvSpPr>
        <p:spPr>
          <a:xfrm>
            <a:off x="457200" y="2130552"/>
            <a:ext cx="822960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13" name="Čvor 35"/>
          <p:cNvSpPr/>
          <p:nvPr/>
        </p:nvSpPr>
        <p:spPr>
          <a:xfrm>
            <a:off x="640080" y="2258568"/>
            <a:ext cx="457200" cy="4572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2037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Transportni sloj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05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Komunikacija proces–proces, portovi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22037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TCP, UDP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20370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Segment / datagram</a:t>
            </a:r>
            <a:endParaRPr lang="en-US" sz="1400" dirty="0"/>
          </a:p>
        </p:txBody>
      </p:sp>
      <p:sp>
        <p:nvSpPr>
          <p:cNvPr id="18" name="Kartica 36"/>
          <p:cNvSpPr/>
          <p:nvPr/>
        </p:nvSpPr>
        <p:spPr>
          <a:xfrm>
            <a:off x="457200" y="2935224"/>
            <a:ext cx="822960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19" name="Čvor 37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083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Internet sloj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Logičko (IP) adresiranje i rutiranje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30083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IPv4, IPv6, ICMP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00837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Paket</a:t>
            </a:r>
            <a:endParaRPr lang="en-US" sz="1400" dirty="0"/>
          </a:p>
        </p:txBody>
      </p:sp>
      <p:sp>
        <p:nvSpPr>
          <p:cNvPr id="24" name="Kartica 38"/>
          <p:cNvSpPr/>
          <p:nvPr/>
        </p:nvSpPr>
        <p:spPr>
          <a:xfrm>
            <a:off x="457200" y="3739896"/>
            <a:ext cx="822960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25" name="Čvor 39"/>
          <p:cNvSpPr/>
          <p:nvPr/>
        </p:nvSpPr>
        <p:spPr>
          <a:xfrm>
            <a:off x="640080" y="3867912"/>
            <a:ext cx="457200" cy="4572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8130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Sloj pristupa mreži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Prenos ramova kroz lokalni medijum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38130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Ethernet, Wi-Fi, ARP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381304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Ram (okvir)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model i OSI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OSI model (7 slojeva)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10058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TCP/IP model (4 sloja)</a:t>
            </a:r>
            <a:endParaRPr lang="en-US" sz="1400" dirty="0"/>
          </a:p>
        </p:txBody>
      </p:sp>
      <p:sp>
        <p:nvSpPr>
          <p:cNvPr id="5" name="OSI sloj 40"/>
          <p:cNvSpPr/>
          <p:nvPr/>
        </p:nvSpPr>
        <p:spPr>
          <a:xfrm>
            <a:off x="457200" y="1371600"/>
            <a:ext cx="2514600" cy="402336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  Sloj aplikacije</a:t>
            </a:r>
            <a:endParaRPr lang="en-US" sz="1300" dirty="0"/>
          </a:p>
        </p:txBody>
      </p:sp>
      <p:sp>
        <p:nvSpPr>
          <p:cNvPr id="7" name="OSI sloj 41"/>
          <p:cNvSpPr/>
          <p:nvPr/>
        </p:nvSpPr>
        <p:spPr>
          <a:xfrm>
            <a:off x="457200" y="1828800"/>
            <a:ext cx="2514600" cy="402336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8288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  Sloj prezentacije</a:t>
            </a:r>
            <a:endParaRPr lang="en-US" sz="1300" dirty="0"/>
          </a:p>
        </p:txBody>
      </p:sp>
      <p:sp>
        <p:nvSpPr>
          <p:cNvPr id="9" name="OSI sloj 42"/>
          <p:cNvSpPr/>
          <p:nvPr/>
        </p:nvSpPr>
        <p:spPr>
          <a:xfrm>
            <a:off x="457200" y="2286000"/>
            <a:ext cx="2514600" cy="402336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2860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  Sloj sesije</a:t>
            </a:r>
            <a:endParaRPr lang="en-US" sz="1300" dirty="0"/>
          </a:p>
        </p:txBody>
      </p:sp>
      <p:sp>
        <p:nvSpPr>
          <p:cNvPr id="11" name="OSI sloj 43"/>
          <p:cNvSpPr/>
          <p:nvPr/>
        </p:nvSpPr>
        <p:spPr>
          <a:xfrm>
            <a:off x="457200" y="2743200"/>
            <a:ext cx="2514600" cy="402336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7432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 Sloj transporta</a:t>
            </a:r>
            <a:endParaRPr lang="en-US" sz="1300" dirty="0"/>
          </a:p>
        </p:txBody>
      </p:sp>
      <p:sp>
        <p:nvSpPr>
          <p:cNvPr id="13" name="OSI sloj 44"/>
          <p:cNvSpPr/>
          <p:nvPr/>
        </p:nvSpPr>
        <p:spPr>
          <a:xfrm>
            <a:off x="457200" y="3200400"/>
            <a:ext cx="2514600" cy="402336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2004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  Sloj mreže</a:t>
            </a:r>
            <a:endParaRPr lang="en-US" sz="1300" dirty="0"/>
          </a:p>
        </p:txBody>
      </p:sp>
      <p:sp>
        <p:nvSpPr>
          <p:cNvPr id="15" name="OSI sloj 45"/>
          <p:cNvSpPr/>
          <p:nvPr/>
        </p:nvSpPr>
        <p:spPr>
          <a:xfrm>
            <a:off x="457200" y="3657600"/>
            <a:ext cx="2514600" cy="402336"/>
          </a:xfrm>
          <a:prstGeom prst="roundRect">
            <a:avLst>
              <a:gd name="adj" fmla="val 13636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  Sloj veze (podataka)</a:t>
            </a:r>
            <a:endParaRPr lang="en-US" sz="1300" dirty="0"/>
          </a:p>
        </p:txBody>
      </p:sp>
      <p:sp>
        <p:nvSpPr>
          <p:cNvPr id="17" name="OSI sloj 46"/>
          <p:cNvSpPr/>
          <p:nvPr/>
        </p:nvSpPr>
        <p:spPr>
          <a:xfrm>
            <a:off x="457200" y="4114800"/>
            <a:ext cx="2514600" cy="402336"/>
          </a:xfrm>
          <a:prstGeom prst="roundRect">
            <a:avLst>
              <a:gd name="adj" fmla="val 13636"/>
            </a:avLst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1148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  Fizički sloj</a:t>
            </a:r>
            <a:endParaRPr lang="en-US" sz="1300" dirty="0"/>
          </a:p>
        </p:txBody>
      </p:sp>
      <p:sp>
        <p:nvSpPr>
          <p:cNvPr id="19" name="TCP/IP sloj 47"/>
          <p:cNvSpPr/>
          <p:nvPr/>
        </p:nvSpPr>
        <p:spPr>
          <a:xfrm>
            <a:off x="3749040" y="1371600"/>
            <a:ext cx="2514600" cy="1316736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Aplikacioni sloj</a:t>
            </a:r>
            <a:endParaRPr lang="en-US" sz="1500" dirty="0"/>
          </a:p>
        </p:txBody>
      </p:sp>
      <p:sp>
        <p:nvSpPr>
          <p:cNvPr id="20" name="Mapiranje 48"/>
          <p:cNvSpPr/>
          <p:nvPr/>
        </p:nvSpPr>
        <p:spPr>
          <a:xfrm>
            <a:off x="3081528" y="2029968"/>
            <a:ext cx="55778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21" name="TCP/IP sloj 49"/>
          <p:cNvSpPr/>
          <p:nvPr/>
        </p:nvSpPr>
        <p:spPr>
          <a:xfrm>
            <a:off x="3749040" y="2743200"/>
            <a:ext cx="2514600" cy="402336"/>
          </a:xfrm>
          <a:prstGeom prst="roundRect">
            <a:avLst>
              <a:gd name="adj" fmla="val 1363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Transportni sloj</a:t>
            </a:r>
            <a:endParaRPr lang="en-US" sz="1500" dirty="0"/>
          </a:p>
        </p:txBody>
      </p:sp>
      <p:sp>
        <p:nvSpPr>
          <p:cNvPr id="22" name="Mapiranje 50"/>
          <p:cNvSpPr/>
          <p:nvPr/>
        </p:nvSpPr>
        <p:spPr>
          <a:xfrm>
            <a:off x="3081528" y="2944368"/>
            <a:ext cx="55778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23" name="TCP/IP sloj 51"/>
          <p:cNvSpPr/>
          <p:nvPr/>
        </p:nvSpPr>
        <p:spPr>
          <a:xfrm>
            <a:off x="3749040" y="3200400"/>
            <a:ext cx="2514600" cy="402336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Internet sloj</a:t>
            </a:r>
            <a:endParaRPr lang="en-US" sz="1500" dirty="0"/>
          </a:p>
        </p:txBody>
      </p:sp>
      <p:sp>
        <p:nvSpPr>
          <p:cNvPr id="24" name="Mapiranje 52"/>
          <p:cNvSpPr/>
          <p:nvPr/>
        </p:nvSpPr>
        <p:spPr>
          <a:xfrm>
            <a:off x="3081528" y="3401568"/>
            <a:ext cx="55778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25" name="TCP/IP sloj 53"/>
          <p:cNvSpPr/>
          <p:nvPr/>
        </p:nvSpPr>
        <p:spPr>
          <a:xfrm>
            <a:off x="3749040" y="3657600"/>
            <a:ext cx="2514600" cy="859536"/>
          </a:xfrm>
          <a:prstGeom prst="roundRect">
            <a:avLst>
              <a:gd name="adj" fmla="val 6383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Sloj pristupa mreži</a:t>
            </a:r>
            <a:endParaRPr lang="en-US" sz="1500" dirty="0"/>
          </a:p>
        </p:txBody>
      </p:sp>
      <p:sp>
        <p:nvSpPr>
          <p:cNvPr id="26" name="Mapiranje 54"/>
          <p:cNvSpPr/>
          <p:nvPr/>
        </p:nvSpPr>
        <p:spPr>
          <a:xfrm>
            <a:off x="3081528" y="4087368"/>
            <a:ext cx="55778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27" name="Kartica 55"/>
          <p:cNvSpPr/>
          <p:nvPr/>
        </p:nvSpPr>
        <p:spPr>
          <a:xfrm>
            <a:off x="6537960" y="1371600"/>
            <a:ext cx="2148840" cy="3145536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93408" y="1508760"/>
            <a:ext cx="1874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OSI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teorijski referentni model (ISO)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TCP/IP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praktičan model po kome radi Internet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Slojevi 5–7 OSI modela u TCP/IP-u objedinjeni su u aplikacioni sloj, a slojevi 1–2 u sloj pristupa mreži.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i TCP/IP: ključne razlike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Kriterijum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OSI model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TCP/IP model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Broj slojeva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Nastanak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ISO, rad započet 1977.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Projekat ARPANET, 1970-e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Priroda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Teorijski referentni model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Praktičan skup protokola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Redosled razvoja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Prvo model, pa protokoli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Prvo protokoli, pa model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Sesija i prezentacija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Posebni slojevi (5 i 6)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Deo aplikacionog sloja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Upotreba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Učenje i projektovanje mreža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Internet i savremene mreže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Oba modela dele isti princip: svaki sloj pruža usluge sloju iznad sebe.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Enkapsulacija podataka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Na izvoru svaki sloj dodaje svoje zaglavlje (enkapsulacija); na odredištu se zaglavlja uklanjaju obrnutim redom (dekapsulacija).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Aplikacioni</a:t>
            </a:r>
            <a:endParaRPr lang="en-US" sz="1400" dirty="0"/>
          </a:p>
        </p:txBody>
      </p:sp>
      <p:sp>
        <p:nvSpPr>
          <p:cNvPr id="5" name="Polje 56"/>
          <p:cNvSpPr/>
          <p:nvPr/>
        </p:nvSpPr>
        <p:spPr>
          <a:xfrm>
            <a:off x="5120640" y="1572768"/>
            <a:ext cx="1609344" cy="457200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Podaci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5727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Podaci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854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Transportni</a:t>
            </a:r>
            <a:endParaRPr lang="en-US" sz="1400" dirty="0"/>
          </a:p>
        </p:txBody>
      </p:sp>
      <p:sp>
        <p:nvSpPr>
          <p:cNvPr id="8" name="Polje 57"/>
          <p:cNvSpPr/>
          <p:nvPr/>
        </p:nvSpPr>
        <p:spPr>
          <a:xfrm>
            <a:off x="4114800" y="2185416"/>
            <a:ext cx="923544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TCP zagl.</a:t>
            </a:r>
            <a:endParaRPr lang="en-US" sz="1200" dirty="0"/>
          </a:p>
        </p:txBody>
      </p:sp>
      <p:sp>
        <p:nvSpPr>
          <p:cNvPr id="9" name="Polje 58"/>
          <p:cNvSpPr/>
          <p:nvPr/>
        </p:nvSpPr>
        <p:spPr>
          <a:xfrm>
            <a:off x="5120640" y="2185416"/>
            <a:ext cx="1609344" cy="457200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Podaci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1854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Segment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7980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Internet</a:t>
            </a:r>
            <a:endParaRPr lang="en-US" sz="1400" dirty="0"/>
          </a:p>
        </p:txBody>
      </p:sp>
      <p:sp>
        <p:nvSpPr>
          <p:cNvPr id="12" name="Polje 59"/>
          <p:cNvSpPr/>
          <p:nvPr/>
        </p:nvSpPr>
        <p:spPr>
          <a:xfrm>
            <a:off x="3108960" y="2798064"/>
            <a:ext cx="923544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IP zagl.</a:t>
            </a:r>
            <a:endParaRPr lang="en-US" sz="1200" dirty="0"/>
          </a:p>
        </p:txBody>
      </p:sp>
      <p:sp>
        <p:nvSpPr>
          <p:cNvPr id="13" name="Polje 60"/>
          <p:cNvSpPr/>
          <p:nvPr/>
        </p:nvSpPr>
        <p:spPr>
          <a:xfrm>
            <a:off x="4114800" y="2798064"/>
            <a:ext cx="923544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TCP zagl.</a:t>
            </a:r>
            <a:endParaRPr lang="en-US" sz="1200" dirty="0"/>
          </a:p>
        </p:txBody>
      </p:sp>
      <p:sp>
        <p:nvSpPr>
          <p:cNvPr id="14" name="Polje 61"/>
          <p:cNvSpPr/>
          <p:nvPr/>
        </p:nvSpPr>
        <p:spPr>
          <a:xfrm>
            <a:off x="5120640" y="2798064"/>
            <a:ext cx="1609344" cy="457200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Podaci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27980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Paket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107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Pristup mreži</a:t>
            </a:r>
            <a:endParaRPr lang="en-US" sz="1400" dirty="0"/>
          </a:p>
        </p:txBody>
      </p:sp>
      <p:sp>
        <p:nvSpPr>
          <p:cNvPr id="17" name="Polje 62"/>
          <p:cNvSpPr/>
          <p:nvPr/>
        </p:nvSpPr>
        <p:spPr>
          <a:xfrm>
            <a:off x="2103120" y="3410712"/>
            <a:ext cx="923544" cy="457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Eth. zagl.</a:t>
            </a:r>
            <a:endParaRPr lang="en-US" sz="1200" dirty="0"/>
          </a:p>
        </p:txBody>
      </p:sp>
      <p:sp>
        <p:nvSpPr>
          <p:cNvPr id="18" name="Polje 63"/>
          <p:cNvSpPr/>
          <p:nvPr/>
        </p:nvSpPr>
        <p:spPr>
          <a:xfrm>
            <a:off x="3108960" y="3410712"/>
            <a:ext cx="923544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IP zagl.</a:t>
            </a:r>
            <a:endParaRPr lang="en-US" sz="1200" dirty="0"/>
          </a:p>
        </p:txBody>
      </p:sp>
      <p:sp>
        <p:nvSpPr>
          <p:cNvPr id="19" name="Polje 64"/>
          <p:cNvSpPr/>
          <p:nvPr/>
        </p:nvSpPr>
        <p:spPr>
          <a:xfrm>
            <a:off x="4114800" y="3410712"/>
            <a:ext cx="923544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TCP zagl.</a:t>
            </a:r>
            <a:endParaRPr lang="en-US" sz="1200" dirty="0"/>
          </a:p>
        </p:txBody>
      </p:sp>
      <p:sp>
        <p:nvSpPr>
          <p:cNvPr id="20" name="Polje 65"/>
          <p:cNvSpPr/>
          <p:nvPr/>
        </p:nvSpPr>
        <p:spPr>
          <a:xfrm>
            <a:off x="5120640" y="3410712"/>
            <a:ext cx="1609344" cy="457200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Podaci</a:t>
            </a:r>
            <a:endParaRPr lang="en-US" sz="1200" dirty="0"/>
          </a:p>
        </p:txBody>
      </p:sp>
      <p:sp>
        <p:nvSpPr>
          <p:cNvPr id="21" name="Polje 66"/>
          <p:cNvSpPr/>
          <p:nvPr/>
        </p:nvSpPr>
        <p:spPr>
          <a:xfrm>
            <a:off x="6812280" y="3410712"/>
            <a:ext cx="603504" cy="457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FCS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34107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Ram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Fizički prenos</a:t>
            </a:r>
            <a:endParaRPr lang="en-US" sz="1400" dirty="0"/>
          </a:p>
        </p:txBody>
      </p:sp>
      <p:sp>
        <p:nvSpPr>
          <p:cNvPr id="24" name="Bitovi 67"/>
          <p:cNvSpPr/>
          <p:nvPr/>
        </p:nvSpPr>
        <p:spPr>
          <a:xfrm>
            <a:off x="2103120" y="4023360"/>
            <a:ext cx="534924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01001011 10110010 01101001 11001010 00110101 …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4023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Bitovi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IP paketa: IPv4 zaglavlje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1024128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024128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629400" y="1024128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29625" y="1024128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31</a:t>
            </a:r>
            <a:endParaRPr lang="en-US" sz="1000" dirty="0"/>
          </a:p>
        </p:txBody>
      </p:sp>
      <p:sp>
        <p:nvSpPr>
          <p:cNvPr id="8" name="Polje zaglavlja 68"/>
          <p:cNvSpPr/>
          <p:nvPr/>
        </p:nvSpPr>
        <p:spPr>
          <a:xfrm>
            <a:off x="457200" y="1298448"/>
            <a:ext cx="102870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Verzija</a:t>
            </a:r>
            <a:endParaRPr lang="en-US" sz="1200" dirty="0"/>
          </a:p>
        </p:txBody>
      </p:sp>
      <p:sp>
        <p:nvSpPr>
          <p:cNvPr id="9" name="Polje zaglavlja 69"/>
          <p:cNvSpPr/>
          <p:nvPr/>
        </p:nvSpPr>
        <p:spPr>
          <a:xfrm>
            <a:off x="1485900" y="1298448"/>
            <a:ext cx="102870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IHL</a:t>
            </a:r>
            <a:endParaRPr lang="en-US" sz="1200" dirty="0"/>
          </a:p>
        </p:txBody>
      </p:sp>
      <p:sp>
        <p:nvSpPr>
          <p:cNvPr id="10" name="Polje zaglavlja 70"/>
          <p:cNvSpPr/>
          <p:nvPr/>
        </p:nvSpPr>
        <p:spPr>
          <a:xfrm>
            <a:off x="2514600" y="1298448"/>
            <a:ext cx="205740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Tip usluge</a:t>
            </a:r>
            <a:endParaRPr lang="en-US" sz="1200" dirty="0"/>
          </a:p>
        </p:txBody>
      </p:sp>
      <p:sp>
        <p:nvSpPr>
          <p:cNvPr id="11" name="Polje zaglavlja 71"/>
          <p:cNvSpPr/>
          <p:nvPr/>
        </p:nvSpPr>
        <p:spPr>
          <a:xfrm>
            <a:off x="4572000" y="1298448"/>
            <a:ext cx="411480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Ukupna dužina</a:t>
            </a:r>
            <a:endParaRPr lang="en-US" sz="1200" dirty="0"/>
          </a:p>
        </p:txBody>
      </p:sp>
      <p:sp>
        <p:nvSpPr>
          <p:cNvPr id="12" name="Polje zaglavlja 72"/>
          <p:cNvSpPr/>
          <p:nvPr/>
        </p:nvSpPr>
        <p:spPr>
          <a:xfrm>
            <a:off x="457200" y="1682496"/>
            <a:ext cx="411480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Identifikacija</a:t>
            </a:r>
            <a:endParaRPr lang="en-US" sz="1200" dirty="0"/>
          </a:p>
        </p:txBody>
      </p:sp>
      <p:sp>
        <p:nvSpPr>
          <p:cNvPr id="13" name="Polje zaglavlja 73"/>
          <p:cNvSpPr/>
          <p:nvPr/>
        </p:nvSpPr>
        <p:spPr>
          <a:xfrm>
            <a:off x="4572000" y="1682496"/>
            <a:ext cx="771525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Zastavice</a:t>
            </a:r>
            <a:endParaRPr lang="en-US" sz="1200" dirty="0"/>
          </a:p>
        </p:txBody>
      </p:sp>
      <p:sp>
        <p:nvSpPr>
          <p:cNvPr id="14" name="Polje zaglavlja 74"/>
          <p:cNvSpPr/>
          <p:nvPr/>
        </p:nvSpPr>
        <p:spPr>
          <a:xfrm>
            <a:off x="5343525" y="1682496"/>
            <a:ext cx="3343275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Pomeraj fragmenta</a:t>
            </a:r>
            <a:endParaRPr lang="en-US" sz="1200" dirty="0"/>
          </a:p>
        </p:txBody>
      </p:sp>
      <p:sp>
        <p:nvSpPr>
          <p:cNvPr id="15" name="Polje zaglavlja 75"/>
          <p:cNvSpPr/>
          <p:nvPr/>
        </p:nvSpPr>
        <p:spPr>
          <a:xfrm>
            <a:off x="457200" y="2066544"/>
            <a:ext cx="205740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TTL</a:t>
            </a:r>
            <a:endParaRPr lang="en-US" sz="1200" dirty="0"/>
          </a:p>
        </p:txBody>
      </p:sp>
      <p:sp>
        <p:nvSpPr>
          <p:cNvPr id="16" name="Polje zaglavlja 76"/>
          <p:cNvSpPr/>
          <p:nvPr/>
        </p:nvSpPr>
        <p:spPr>
          <a:xfrm>
            <a:off x="2514600" y="2066544"/>
            <a:ext cx="205740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Protokol</a:t>
            </a:r>
            <a:endParaRPr lang="en-US" sz="1200" dirty="0"/>
          </a:p>
        </p:txBody>
      </p:sp>
      <p:sp>
        <p:nvSpPr>
          <p:cNvPr id="17" name="Polje zaglavlja 77"/>
          <p:cNvSpPr/>
          <p:nvPr/>
        </p:nvSpPr>
        <p:spPr>
          <a:xfrm>
            <a:off x="4572000" y="2066544"/>
            <a:ext cx="4114800" cy="384048"/>
          </a:xfrm>
          <a:prstGeom prst="rect">
            <a:avLst/>
          </a:prstGeom>
          <a:solidFill>
            <a:schemeClr val="bg2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Kontrolna suma zaglavlja</a:t>
            </a:r>
            <a:endParaRPr lang="en-US" sz="1200" dirty="0"/>
          </a:p>
        </p:txBody>
      </p:sp>
      <p:sp>
        <p:nvSpPr>
          <p:cNvPr id="18" name="Polje zaglavlja 78"/>
          <p:cNvSpPr/>
          <p:nvPr/>
        </p:nvSpPr>
        <p:spPr>
          <a:xfrm>
            <a:off x="457200" y="2450592"/>
            <a:ext cx="822960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Izvorna IP adresa (32 bita)</a:t>
            </a:r>
            <a:endParaRPr lang="en-US" sz="1200" dirty="0"/>
          </a:p>
        </p:txBody>
      </p:sp>
      <p:sp>
        <p:nvSpPr>
          <p:cNvPr id="19" name="Polje zaglavlja 79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9FC4C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Odredišna IP adresa (32 bita)</a:t>
            </a:r>
            <a:endParaRPr lang="en-US" sz="1200" dirty="0"/>
          </a:p>
        </p:txBody>
      </p:sp>
      <p:sp>
        <p:nvSpPr>
          <p:cNvPr id="20" name="Polje zaglavlja 80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chemeClr val="bg1"/>
          </a:solidFill>
          <a:ln w="12700">
            <a:solidFill>
              <a:srgbClr val="9FC4C6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Opcije (ako postoje) i popuna</a:t>
            </a:r>
            <a:endParaRPr lang="en-US" sz="1200" dirty="0"/>
          </a:p>
        </p:txBody>
      </p:sp>
      <p:sp>
        <p:nvSpPr>
          <p:cNvPr id="21" name="Kartica 81"/>
          <p:cNvSpPr/>
          <p:nvPr/>
        </p:nvSpPr>
        <p:spPr>
          <a:xfrm>
            <a:off x="457200" y="3767328"/>
            <a:ext cx="25603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TTL: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smanjuje se za 1 u svakom ruteru; kada dođe do 0, paket se odbacuje</a:t>
            </a:r>
            <a:endParaRPr lang="en-US" sz="1300" dirty="0"/>
          </a:p>
        </p:txBody>
      </p:sp>
      <p:sp>
        <p:nvSpPr>
          <p:cNvPr id="23" name="Kartica 82"/>
          <p:cNvSpPr/>
          <p:nvPr/>
        </p:nvSpPr>
        <p:spPr>
          <a:xfrm>
            <a:off x="3291840" y="3767328"/>
            <a:ext cx="25603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2900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Protokol: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šta nosi polje podataka: 1 = ICMP, 6 = TCP, 17 = UDP</a:t>
            </a:r>
            <a:endParaRPr lang="en-US" sz="1300" dirty="0"/>
          </a:p>
        </p:txBody>
      </p:sp>
      <p:sp>
        <p:nvSpPr>
          <p:cNvPr id="25" name="Kartica 83"/>
          <p:cNvSpPr/>
          <p:nvPr/>
        </p:nvSpPr>
        <p:spPr>
          <a:xfrm>
            <a:off x="6126480" y="3767328"/>
            <a:ext cx="25603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Adrese: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izvor i odredište; zaglavlje bez opcija ima 20 bajtova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IPv4 adresa i maska podmreže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IPv4 adresa ima 32 bita: četiri okteta zapisana decimalno i odvojena tačkama. Sastoji se od adrese mreže i adrese računara.</a:t>
            </a:r>
            <a:endParaRPr lang="en-US" sz="1500" dirty="0"/>
          </a:p>
        </p:txBody>
      </p:sp>
      <p:sp>
        <p:nvSpPr>
          <p:cNvPr id="4" name="Oktet 84"/>
          <p:cNvSpPr/>
          <p:nvPr/>
        </p:nvSpPr>
        <p:spPr>
          <a:xfrm>
            <a:off x="822960" y="1536192"/>
            <a:ext cx="1600200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192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11000000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153619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.</a:t>
            </a:r>
            <a:endParaRPr lang="en-US" sz="2800" dirty="0"/>
          </a:p>
        </p:txBody>
      </p:sp>
      <p:sp>
        <p:nvSpPr>
          <p:cNvPr id="7" name="Oktet 85"/>
          <p:cNvSpPr/>
          <p:nvPr/>
        </p:nvSpPr>
        <p:spPr>
          <a:xfrm>
            <a:off x="2788920" y="1536192"/>
            <a:ext cx="1600200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168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10101000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53619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.</a:t>
            </a:r>
            <a:endParaRPr lang="en-US" sz="2800" dirty="0"/>
          </a:p>
        </p:txBody>
      </p:sp>
      <p:sp>
        <p:nvSpPr>
          <p:cNvPr id="10" name="Oktet 86"/>
          <p:cNvSpPr/>
          <p:nvPr/>
        </p:nvSpPr>
        <p:spPr>
          <a:xfrm>
            <a:off x="4754880" y="1536192"/>
            <a:ext cx="1600200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53619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.</a:t>
            </a:r>
            <a:endParaRPr lang="en-US" sz="2800" dirty="0"/>
          </a:p>
        </p:txBody>
      </p:sp>
      <p:sp>
        <p:nvSpPr>
          <p:cNvPr id="13" name="Oktet 87"/>
          <p:cNvSpPr/>
          <p:nvPr/>
        </p:nvSpPr>
        <p:spPr>
          <a:xfrm>
            <a:off x="6720840" y="1536192"/>
            <a:ext cx="160020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54203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Adresa mreže (24 bita)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542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771B"/>
                </a:solidFill>
              </a:rPr>
              <a:t>Adresa računara (8 bita)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944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Maska podmreže 255.255.255.0 = /24 (jedinice u masci označavaju mrežni deo adrese)</a:t>
            </a:r>
            <a:endParaRPr lang="en-US" sz="1400" dirty="0"/>
          </a:p>
        </p:txBody>
      </p:sp>
      <p:sp>
        <p:nvSpPr>
          <p:cNvPr id="18" name="Maska oktet 88"/>
          <p:cNvSpPr/>
          <p:nvPr/>
        </p:nvSpPr>
        <p:spPr>
          <a:xfrm>
            <a:off x="822960" y="3273552"/>
            <a:ext cx="16002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255</a:t>
            </a:r>
            <a:endParaRPr lang="en-US" sz="1600" dirty="0"/>
          </a:p>
        </p:txBody>
      </p:sp>
      <p:sp>
        <p:nvSpPr>
          <p:cNvPr id="19" name="Maska oktet 89"/>
          <p:cNvSpPr/>
          <p:nvPr/>
        </p:nvSpPr>
        <p:spPr>
          <a:xfrm>
            <a:off x="2788920" y="3273552"/>
            <a:ext cx="16002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255</a:t>
            </a:r>
            <a:endParaRPr lang="en-US" sz="1600" dirty="0"/>
          </a:p>
        </p:txBody>
      </p:sp>
      <p:sp>
        <p:nvSpPr>
          <p:cNvPr id="20" name="Maska oktet 90"/>
          <p:cNvSpPr/>
          <p:nvPr/>
        </p:nvSpPr>
        <p:spPr>
          <a:xfrm>
            <a:off x="4754880" y="3273552"/>
            <a:ext cx="16002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255</a:t>
            </a:r>
            <a:endParaRPr lang="en-US" sz="1600" dirty="0"/>
          </a:p>
        </p:txBody>
      </p:sp>
      <p:sp>
        <p:nvSpPr>
          <p:cNvPr id="21" name="Maska oktet 91"/>
          <p:cNvSpPr/>
          <p:nvPr/>
        </p:nvSpPr>
        <p:spPr>
          <a:xfrm>
            <a:off x="6720840" y="3273552"/>
            <a:ext cx="160020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0</a:t>
            </a:r>
            <a:endParaRPr lang="en-US" sz="1600" dirty="0"/>
          </a:p>
        </p:txBody>
      </p:sp>
      <p:sp>
        <p:nvSpPr>
          <p:cNvPr id="22" name="Kartica 92"/>
          <p:cNvSpPr/>
          <p:nvPr/>
        </p:nvSpPr>
        <p:spPr>
          <a:xfrm>
            <a:off x="457200" y="3840480"/>
            <a:ext cx="256032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904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Adresa mreže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160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192.168.1.0</a:t>
            </a:r>
            <a:endParaRPr lang="en-US" sz="1600" dirty="0"/>
          </a:p>
        </p:txBody>
      </p:sp>
      <p:sp>
        <p:nvSpPr>
          <p:cNvPr id="25" name="Kartica 93"/>
          <p:cNvSpPr/>
          <p:nvPr/>
        </p:nvSpPr>
        <p:spPr>
          <a:xfrm>
            <a:off x="3291840" y="3840480"/>
            <a:ext cx="256032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904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Broadcast adresa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4160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192.168.1.255</a:t>
            </a:r>
            <a:endParaRPr lang="en-US" sz="1600" dirty="0"/>
          </a:p>
        </p:txBody>
      </p:sp>
      <p:sp>
        <p:nvSpPr>
          <p:cNvPr id="28" name="Kartica 94"/>
          <p:cNvSpPr/>
          <p:nvPr/>
        </p:nvSpPr>
        <p:spPr>
          <a:xfrm>
            <a:off x="6126480" y="3840480"/>
            <a:ext cx="256032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3904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Adrese računara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4160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.1 – .254 (254 adrese)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Klase IPv4 adresa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6692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51560"/>
                <a:gridCol w="1097280"/>
                <a:gridCol w="1600200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Klasa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Prvi oktet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Početni bitovi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Podrazumevana maska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Namena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– 126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255.0.0.0 (/8)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Vrlo velike mreže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 – 191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255.255.0.0 (/16)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Srednje mreže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192 – 223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255.255.255.0 (/24)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Male mreže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224 – 239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Multicast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240 – 255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Rezervisano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Kartica 95"/>
          <p:cNvSpPr/>
          <p:nvPr/>
        </p:nvSpPr>
        <p:spPr>
          <a:xfrm>
            <a:off x="6400800" y="1188720"/>
            <a:ext cx="2286000" cy="3017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65392" y="1298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Posebne adrese</a:t>
            </a:r>
            <a:endParaRPr lang="en-US" sz="1500" dirty="0"/>
          </a:p>
        </p:txBody>
      </p:sp>
      <p:sp>
        <p:nvSpPr>
          <p:cNvPr id="6" name="Lista 96"/>
          <p:cNvSpPr txBox="1"/>
          <p:nvPr/>
        </p:nvSpPr>
        <p:spPr>
          <a:xfrm>
            <a:off x="6565392" y="169164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127.0.0.0/8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– loopback (sopstveni računar)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Privatni opsezi: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10.0.0.0/8, 172.16.0.0/12, 192.168.0.0/16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255.255.255.255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– broadcast u lokalnoj mreži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Danas se umesto klasa koristi besklasno adresiranje CIDR (npr. 192.168.4.0/22), a nedostatak IPv4 adresa ublažava NAT.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ukratko</a:t>
            </a:r>
            <a:endParaRPr lang="en-US" sz="3000" dirty="0"/>
          </a:p>
        </p:txBody>
      </p:sp>
      <p:sp>
        <p:nvSpPr>
          <p:cNvPr id="3" name="Kartica 97"/>
          <p:cNvSpPr/>
          <p:nvPr/>
        </p:nvSpPr>
        <p:spPr>
          <a:xfrm>
            <a:off x="457200" y="1188720"/>
            <a:ext cx="2926080" cy="338328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128 bita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dužina IPv6 adrese (IPv4: 32 bita)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≈ 3,4 × 10</a:t>
            </a:r>
            <a:pPr algn="ctr" indent="0" marL="0">
              <a:buNone/>
            </a:pPr>
            <a:r>
              <a:rPr lang="en-US" sz="3000" b="1" baseline="30000" dirty="0">
                <a:solidFill>
                  <a:schemeClr val="accent6"/>
                </a:solidFill>
              </a:rPr>
              <a:t>38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mogućih adresa</a:t>
            </a:r>
            <a:endParaRPr lang="en-US" sz="1300" dirty="0"/>
          </a:p>
        </p:txBody>
      </p:sp>
      <p:sp>
        <p:nvSpPr>
          <p:cNvPr id="8" name="Lista 98"/>
          <p:cNvSpPr txBox="1"/>
          <p:nvPr/>
        </p:nvSpPr>
        <p:spPr>
          <a:xfrm>
            <a:off x="3749040" y="1188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Zapis: 8 grupa po 4 heksadecimalne cifre, odvojene dvotačkom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Vodeće nule se izostavljaju, a niz nultih grupa se jednom menja sa ::</a:t>
            </a:r>
            <a:endParaRPr lang="en-US" sz="1500" dirty="0"/>
          </a:p>
        </p:txBody>
      </p:sp>
      <p:sp>
        <p:nvSpPr>
          <p:cNvPr id="9" name="Kartica 99"/>
          <p:cNvSpPr/>
          <p:nvPr/>
        </p:nvSpPr>
        <p:spPr>
          <a:xfrm>
            <a:off x="3749040" y="2240280"/>
            <a:ext cx="49377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86200" y="2286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2001:0db8:0000:0000:0000:ff00:0042:8329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2001:db8::ff00:42:8329</a:t>
            </a:r>
            <a:endParaRPr lang="en-US" sz="1300" dirty="0"/>
          </a:p>
        </p:txBody>
      </p:sp>
      <p:sp>
        <p:nvSpPr>
          <p:cNvPr id="11" name="Lista 100"/>
          <p:cNvSpPr txBox="1"/>
          <p:nvPr/>
        </p:nvSpPr>
        <p:spPr>
          <a:xfrm>
            <a:off x="3749040" y="31546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Osnovno zaglavlje fiksne dužine (40 bajtova), jednostavnija obrada u ruterima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Nema broadcast-a: unicast, multicast i anycast adrese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Automatska konfiguracija adresa (SLAAC) i ugrađena podrška za IPsec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 i RARP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Protokoli koji međusobno konvertuju adrese sloja mreže (IP) i adrese sloja veze (MAC, 48 bita, upisana u mrežnu karticu).</a:t>
            </a:r>
            <a:endParaRPr lang="en-US" sz="1500" dirty="0"/>
          </a:p>
        </p:txBody>
      </p:sp>
      <p:sp>
        <p:nvSpPr>
          <p:cNvPr id="4" name="Kartica 101"/>
          <p:cNvSpPr/>
          <p:nvPr/>
        </p:nvSpPr>
        <p:spPr>
          <a:xfrm>
            <a:off x="457200" y="1508760"/>
            <a:ext cx="4754880" cy="3081528"/>
          </a:xfrm>
          <a:prstGeom prst="roundRect">
            <a:avLst>
              <a:gd name="adj" fmla="val 2967"/>
            </a:avLst>
          </a:prstGeom>
          <a:solidFill>
            <a:schemeClr val="bg2"/>
          </a:solidFill>
          <a:ln/>
        </p:spPr>
      </p:sp>
      <p:sp>
        <p:nvSpPr>
          <p:cNvPr id="5" name="Čvor 102"/>
          <p:cNvSpPr/>
          <p:nvPr/>
        </p:nvSpPr>
        <p:spPr>
          <a:xfrm>
            <a:off x="800100" y="1805940"/>
            <a:ext cx="685800" cy="685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6" name="Čvor 103"/>
          <p:cNvSpPr/>
          <p:nvPr/>
        </p:nvSpPr>
        <p:spPr>
          <a:xfrm>
            <a:off x="4183380" y="1805940"/>
            <a:ext cx="685800" cy="6858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32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192.168.1.10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2532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192.168.1.20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27432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MAC: ?</a:t>
            </a:r>
            <a:endParaRPr lang="en-US" sz="1100" dirty="0"/>
          </a:p>
        </p:txBody>
      </p:sp>
      <p:sp>
        <p:nvSpPr>
          <p:cNvPr id="10" name="ARP zahtev 104"/>
          <p:cNvSpPr/>
          <p:nvPr/>
        </p:nvSpPr>
        <p:spPr>
          <a:xfrm>
            <a:off x="1554480" y="3063240"/>
            <a:ext cx="2560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371600" y="26060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1. ARP zahtev (broadcast)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„Ko ima 192.168.1.20?”</a:t>
            </a:r>
            <a:endParaRPr lang="en-US" sz="1200" dirty="0"/>
          </a:p>
        </p:txBody>
      </p:sp>
      <p:sp>
        <p:nvSpPr>
          <p:cNvPr id="12" name="ARP odgovor 105"/>
          <p:cNvSpPr/>
          <p:nvPr/>
        </p:nvSpPr>
        <p:spPr>
          <a:xfrm flipH="1">
            <a:off x="1554480" y="3931920"/>
            <a:ext cx="256032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097280" y="34747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2. ARP odgovor (unicast)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„192.168.1.20 je 00:1A:2B:3C:4D:5E”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60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Odgovor se čuva u ARP kešu (tabeli).</a:t>
            </a:r>
            <a:endParaRPr lang="en-US" sz="1200" dirty="0"/>
          </a:p>
        </p:txBody>
      </p:sp>
      <p:sp>
        <p:nvSpPr>
          <p:cNvPr id="15" name="Kartica 106"/>
          <p:cNvSpPr/>
          <p:nvPr/>
        </p:nvSpPr>
        <p:spPr>
          <a:xfrm>
            <a:off x="5486400" y="1508760"/>
            <a:ext cx="32004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650992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ARP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IP → MAC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50992" y="1984248"/>
            <a:ext cx="28986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Pronalazi MAC adresu računara čija je IP adresa poznata, da bi se ram poslao kroz lokalnu mrežu.</a:t>
            </a:r>
            <a:endParaRPr lang="en-US" sz="1300" dirty="0"/>
          </a:p>
        </p:txBody>
      </p:sp>
      <p:sp>
        <p:nvSpPr>
          <p:cNvPr id="19" name="Kartica 107"/>
          <p:cNvSpPr/>
          <p:nvPr/>
        </p:nvSpPr>
        <p:spPr>
          <a:xfrm>
            <a:off x="5486400" y="3108960"/>
            <a:ext cx="32004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650992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RARP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MAC → IP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50992" y="3584448"/>
            <a:ext cx="28986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Obrnut postupak: stanica sa poznatom MAC adresom saznaje svoju IP adresu. Danas ga zamenjuju BOOTP i DHCP.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Rutiranje: sloj mreže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Internet sloj TCP/IP modela odgovara sloju mreže OSI modela: isporučuje pakete sa kraja na kraj, bez geografskog ograničenja.</a:t>
            </a:r>
            <a:endParaRPr lang="en-US" sz="1500" dirty="0"/>
          </a:p>
        </p:txBody>
      </p:sp>
      <p:sp>
        <p:nvSpPr>
          <p:cNvPr id="4" name="Kartica 108"/>
          <p:cNvSpPr/>
          <p:nvPr/>
        </p:nvSpPr>
        <p:spPr>
          <a:xfrm>
            <a:off x="457200" y="1508760"/>
            <a:ext cx="502920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5" name="Link 109"/>
          <p:cNvSpPr/>
          <p:nvPr/>
        </p:nvSpPr>
        <p:spPr>
          <a:xfrm>
            <a:off x="1920240" y="2423160"/>
            <a:ext cx="1051560" cy="5486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6" name="Link 110"/>
          <p:cNvSpPr/>
          <p:nvPr/>
        </p:nvSpPr>
        <p:spPr>
          <a:xfrm flipV="1">
            <a:off x="2971800" y="2423160"/>
            <a:ext cx="1051560" cy="5486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7" name="Link 111"/>
          <p:cNvSpPr/>
          <p:nvPr/>
        </p:nvSpPr>
        <p:spPr>
          <a:xfrm>
            <a:off x="2971800" y="1901952"/>
            <a:ext cx="0" cy="106984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8" name="Link 112"/>
          <p:cNvSpPr/>
          <p:nvPr/>
        </p:nvSpPr>
        <p:spPr>
          <a:xfrm>
            <a:off x="914400" y="2423160"/>
            <a:ext cx="1005840" cy="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9" name="Link 113"/>
          <p:cNvSpPr/>
          <p:nvPr/>
        </p:nvSpPr>
        <p:spPr>
          <a:xfrm flipV="1">
            <a:off x="1920240" y="1901952"/>
            <a:ext cx="1051560" cy="521208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10" name="Link 114"/>
          <p:cNvSpPr/>
          <p:nvPr/>
        </p:nvSpPr>
        <p:spPr>
          <a:xfrm>
            <a:off x="2971800" y="1901952"/>
            <a:ext cx="1051560" cy="521208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11" name="Link 115"/>
          <p:cNvSpPr/>
          <p:nvPr/>
        </p:nvSpPr>
        <p:spPr>
          <a:xfrm>
            <a:off x="4023360" y="2423160"/>
            <a:ext cx="1005840" cy="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12" name="Čvor 116"/>
          <p:cNvSpPr/>
          <p:nvPr/>
        </p:nvSpPr>
        <p:spPr>
          <a:xfrm>
            <a:off x="662940" y="2171700"/>
            <a:ext cx="502920" cy="5029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" y="27020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Izvor</a:t>
            </a:r>
            <a:endParaRPr lang="en-US" sz="1100" dirty="0"/>
          </a:p>
        </p:txBody>
      </p:sp>
      <p:sp>
        <p:nvSpPr>
          <p:cNvPr id="14" name="Čvor 117"/>
          <p:cNvSpPr/>
          <p:nvPr/>
        </p:nvSpPr>
        <p:spPr>
          <a:xfrm>
            <a:off x="4777740" y="2171700"/>
            <a:ext cx="502920" cy="5029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7020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Odredište</a:t>
            </a:r>
            <a:endParaRPr lang="en-US" sz="1100" dirty="0"/>
          </a:p>
        </p:txBody>
      </p:sp>
      <p:sp>
        <p:nvSpPr>
          <p:cNvPr id="16" name="Čvor 118"/>
          <p:cNvSpPr/>
          <p:nvPr/>
        </p:nvSpPr>
        <p:spPr>
          <a:xfrm>
            <a:off x="1682496" y="2185416"/>
            <a:ext cx="475488" cy="47548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R1</a:t>
            </a:r>
            <a:endParaRPr lang="en-US" sz="1200" dirty="0"/>
          </a:p>
        </p:txBody>
      </p:sp>
      <p:sp>
        <p:nvSpPr>
          <p:cNvPr id="17" name="Čvor 119"/>
          <p:cNvSpPr/>
          <p:nvPr/>
        </p:nvSpPr>
        <p:spPr>
          <a:xfrm>
            <a:off x="2734056" y="1664208"/>
            <a:ext cx="475488" cy="47548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R2</a:t>
            </a:r>
            <a:endParaRPr lang="en-US" sz="1200" dirty="0"/>
          </a:p>
        </p:txBody>
      </p:sp>
      <p:sp>
        <p:nvSpPr>
          <p:cNvPr id="18" name="Čvor 120"/>
          <p:cNvSpPr/>
          <p:nvPr/>
        </p:nvSpPr>
        <p:spPr>
          <a:xfrm>
            <a:off x="2734056" y="2734056"/>
            <a:ext cx="475488" cy="47548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R3</a:t>
            </a:r>
            <a:endParaRPr lang="en-US" sz="1200" dirty="0"/>
          </a:p>
        </p:txBody>
      </p:sp>
      <p:sp>
        <p:nvSpPr>
          <p:cNvPr id="19" name="Čvor 121"/>
          <p:cNvSpPr/>
          <p:nvPr/>
        </p:nvSpPr>
        <p:spPr>
          <a:xfrm>
            <a:off x="3785616" y="2185416"/>
            <a:ext cx="475488" cy="47548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R4</a:t>
            </a:r>
            <a:endParaRPr lang="en-US" sz="1200" dirty="0"/>
          </a:p>
        </p:txBody>
      </p:sp>
      <p:sp>
        <p:nvSpPr>
          <p:cNvPr id="20" name="Legenda 122"/>
          <p:cNvSpPr/>
          <p:nvPr/>
        </p:nvSpPr>
        <p:spPr>
          <a:xfrm>
            <a:off x="1097280" y="3511296"/>
            <a:ext cx="365760" cy="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54480" y="3383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izabrana putanja</a:t>
            </a:r>
            <a:endParaRPr lang="en-US" sz="1100" dirty="0"/>
          </a:p>
        </p:txBody>
      </p:sp>
      <p:sp>
        <p:nvSpPr>
          <p:cNvPr id="22" name="Legenda 123"/>
          <p:cNvSpPr/>
          <p:nvPr/>
        </p:nvSpPr>
        <p:spPr>
          <a:xfrm>
            <a:off x="3108960" y="3511296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3566160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alternativna putanja</a:t>
            </a:r>
            <a:endParaRPr lang="en-US" sz="1100" dirty="0"/>
          </a:p>
        </p:txBody>
      </p:sp>
      <p:sp>
        <p:nvSpPr>
          <p:cNvPr id="24" name="Lista 124"/>
          <p:cNvSpPr txBox="1"/>
          <p:nvPr/>
        </p:nvSpPr>
        <p:spPr>
          <a:xfrm>
            <a:off x="457200" y="38130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Ruter čita odredišnu IP adresu i iz tabele rutiranja bira sledeći skok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Rutiranje: statičko (ručno) ili dinamičko (RIP, OSPF, BGP)</a:t>
            </a:r>
            <a:endParaRPr lang="en-US" sz="13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Paketi mogu stići i mimo redosleda kojim su poslati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85216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Zadaci sloja mreže</a:t>
            </a:r>
            <a:endParaRPr lang="en-US" sz="1600" dirty="0"/>
          </a:p>
        </p:txBody>
      </p:sp>
      <p:sp>
        <p:nvSpPr>
          <p:cNvPr id="26" name="Čvor 125"/>
          <p:cNvSpPr/>
          <p:nvPr/>
        </p:nvSpPr>
        <p:spPr>
          <a:xfrm>
            <a:off x="5888736" y="2039112"/>
            <a:ext cx="438912" cy="4389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Logičko adresiranje</a:t>
            </a:r>
            <a:endParaRPr lang="en-US" sz="1500" dirty="0"/>
          </a:p>
        </p:txBody>
      </p:sp>
      <p:sp>
        <p:nvSpPr>
          <p:cNvPr id="28" name="Čvor 126"/>
          <p:cNvSpPr/>
          <p:nvPr/>
        </p:nvSpPr>
        <p:spPr>
          <a:xfrm>
            <a:off x="5888736" y="2697480"/>
            <a:ext cx="438912" cy="43891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26700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Određivanje putanje (rutiranje)</a:t>
            </a:r>
            <a:endParaRPr lang="en-US" sz="1500" dirty="0"/>
          </a:p>
        </p:txBody>
      </p:sp>
      <p:sp>
        <p:nvSpPr>
          <p:cNvPr id="30" name="Čvor 127"/>
          <p:cNvSpPr/>
          <p:nvPr/>
        </p:nvSpPr>
        <p:spPr>
          <a:xfrm>
            <a:off x="5888736" y="3355848"/>
            <a:ext cx="438912" cy="4389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73952" y="332841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Kontrola zagušenja</a:t>
            </a:r>
            <a:endParaRPr lang="en-US" sz="1500" dirty="0"/>
          </a:p>
        </p:txBody>
      </p:sp>
      <p:sp>
        <p:nvSpPr>
          <p:cNvPr id="32" name="Čvor 128"/>
          <p:cNvSpPr/>
          <p:nvPr/>
        </p:nvSpPr>
        <p:spPr>
          <a:xfrm>
            <a:off x="5888736" y="4014216"/>
            <a:ext cx="438912" cy="4389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73952" y="39867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Fragmentiranje paketa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i UDP: poređenje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Osobina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TCP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UDP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Veza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Konekciono orijentisan (uspostavlja vezu)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Bez uspostavljanja veze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Pouzdanost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Potvrde (ACK) i ponovno slanje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Nema garancije isporuke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Redosled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Garantuje redosled segmenata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 garantuje redosled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Kontrola toka i zagušenja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Zaglavlje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20–60 bajtova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bajtova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Brzina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Sporiji, veći overhead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Brži, manje kašnjenje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Primena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Web, e-pošta, prenos fajlova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DNS upiti, VoIP, striming, igre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three-way handshake</a:t>
            </a:r>
            <a:endParaRPr lang="en-US" sz="3000" dirty="0"/>
          </a:p>
        </p:txBody>
      </p:sp>
      <p:sp>
        <p:nvSpPr>
          <p:cNvPr id="3" name="Kartica 129"/>
          <p:cNvSpPr/>
          <p:nvPr/>
        </p:nvSpPr>
        <p:spPr>
          <a:xfrm>
            <a:off x="457200" y="1143000"/>
            <a:ext cx="5120640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/>
        </p:spPr>
      </p:sp>
      <p:sp>
        <p:nvSpPr>
          <p:cNvPr id="4" name="Učesnik 130"/>
          <p:cNvSpPr/>
          <p:nvPr/>
        </p:nvSpPr>
        <p:spPr>
          <a:xfrm>
            <a:off x="777240" y="1280160"/>
            <a:ext cx="118872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Klijent</a:t>
            </a:r>
            <a:endParaRPr lang="en-US" sz="1400" dirty="0"/>
          </a:p>
        </p:txBody>
      </p:sp>
      <p:sp>
        <p:nvSpPr>
          <p:cNvPr id="5" name="Vremenska osa 131"/>
          <p:cNvSpPr/>
          <p:nvPr/>
        </p:nvSpPr>
        <p:spPr>
          <a:xfrm>
            <a:off x="1371600" y="1691640"/>
            <a:ext cx="0" cy="27432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dash"/>
          </a:ln>
        </p:spPr>
      </p:sp>
      <p:sp>
        <p:nvSpPr>
          <p:cNvPr id="6" name="Učesnik 132"/>
          <p:cNvSpPr/>
          <p:nvPr/>
        </p:nvSpPr>
        <p:spPr>
          <a:xfrm>
            <a:off x="4069080" y="1280160"/>
            <a:ext cx="1188720" cy="384048"/>
          </a:xfrm>
          <a:prstGeom prst="roundRect">
            <a:avLst>
              <a:gd name="adj" fmla="val 1904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Server</a:t>
            </a:r>
            <a:endParaRPr lang="en-US" sz="1400" dirty="0"/>
          </a:p>
        </p:txBody>
      </p:sp>
      <p:sp>
        <p:nvSpPr>
          <p:cNvPr id="7" name="Vremenska osa 133"/>
          <p:cNvSpPr/>
          <p:nvPr/>
        </p:nvSpPr>
        <p:spPr>
          <a:xfrm>
            <a:off x="4663440" y="1691640"/>
            <a:ext cx="0" cy="27432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dash"/>
          </a:ln>
        </p:spPr>
      </p:sp>
      <p:sp>
        <p:nvSpPr>
          <p:cNvPr id="8" name="Poruka 134"/>
          <p:cNvSpPr/>
          <p:nvPr/>
        </p:nvSpPr>
        <p:spPr>
          <a:xfrm>
            <a:off x="1417320" y="1965960"/>
            <a:ext cx="3200400" cy="36576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1554480" y="18196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1. SYN  (seq = x)</a:t>
            </a:r>
            <a:endParaRPr lang="en-US" sz="1200" dirty="0"/>
          </a:p>
        </p:txBody>
      </p:sp>
      <p:sp>
        <p:nvSpPr>
          <p:cNvPr id="10" name="Poruka 135"/>
          <p:cNvSpPr/>
          <p:nvPr/>
        </p:nvSpPr>
        <p:spPr>
          <a:xfrm flipH="1">
            <a:off x="1417320" y="2697480"/>
            <a:ext cx="3200400" cy="36576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554480" y="2551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2. SYN-ACK  (seq = y, ack = x + 1)</a:t>
            </a:r>
            <a:endParaRPr lang="en-US" sz="1200" dirty="0"/>
          </a:p>
        </p:txBody>
      </p:sp>
      <p:sp>
        <p:nvSpPr>
          <p:cNvPr id="12" name="Poruka 136"/>
          <p:cNvSpPr/>
          <p:nvPr/>
        </p:nvSpPr>
        <p:spPr>
          <a:xfrm>
            <a:off x="1417320" y="3429000"/>
            <a:ext cx="3200400" cy="36576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554480" y="32826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3. ACK  (ack = y + 1)</a:t>
            </a:r>
            <a:endParaRPr lang="en-US" sz="1200" dirty="0"/>
          </a:p>
        </p:txBody>
      </p:sp>
      <p:sp>
        <p:nvSpPr>
          <p:cNvPr id="14" name="Rezultat 137"/>
          <p:cNvSpPr/>
          <p:nvPr/>
        </p:nvSpPr>
        <p:spPr>
          <a:xfrm>
            <a:off x="1371600" y="4023360"/>
            <a:ext cx="329184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Veza uspostavljena → prenos podataka</a:t>
            </a:r>
            <a:endParaRPr lang="en-US" sz="1300" dirty="0"/>
          </a:p>
        </p:txBody>
      </p:sp>
      <p:sp>
        <p:nvSpPr>
          <p:cNvPr id="15" name="Lista 138"/>
          <p:cNvSpPr txBox="1"/>
          <p:nvPr/>
        </p:nvSpPr>
        <p:spPr>
          <a:xfrm>
            <a:off x="5852160" y="118872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SYN: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klijent traži vezu i šalje početni redni broj x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SYN-ACK: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server potvrđuje (x + 1) i šalje svoj redni broj y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ACK: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klijent potvrđuje (y + 1); veza je uspostavljena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Raskid veze: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razmena FIN i ACK segmenata u oba smera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Portovi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Port je 16-bitni broj (0–65535) kojim transportni sloj označava proces, odnosno aplikaciju, na računaru.</a:t>
            </a:r>
            <a:endParaRPr lang="en-US" sz="1500" dirty="0"/>
          </a:p>
        </p:txBody>
      </p:sp>
      <p:sp>
        <p:nvSpPr>
          <p:cNvPr id="4" name="Soket deo 139"/>
          <p:cNvSpPr/>
          <p:nvPr/>
        </p:nvSpPr>
        <p:spPr>
          <a:xfrm>
            <a:off x="457200" y="16459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IP adresa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192.168.1.10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64592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+</a:t>
            </a:r>
            <a:endParaRPr lang="en-US" sz="2800" dirty="0"/>
          </a:p>
        </p:txBody>
      </p:sp>
      <p:sp>
        <p:nvSpPr>
          <p:cNvPr id="6" name="Soket deo 140"/>
          <p:cNvSpPr/>
          <p:nvPr/>
        </p:nvSpPr>
        <p:spPr>
          <a:xfrm>
            <a:off x="3429000" y="164592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Port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443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64592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=</a:t>
            </a:r>
            <a:endParaRPr lang="en-US" sz="2800" dirty="0"/>
          </a:p>
        </p:txBody>
      </p:sp>
      <p:sp>
        <p:nvSpPr>
          <p:cNvPr id="8" name="Soket deo 141"/>
          <p:cNvSpPr/>
          <p:nvPr/>
        </p:nvSpPr>
        <p:spPr>
          <a:xfrm>
            <a:off x="5486400" y="164592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Soket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192.168.1.10:443</a:t>
            </a:r>
            <a:endParaRPr lang="en-US" sz="1200" dirty="0"/>
          </a:p>
        </p:txBody>
      </p:sp>
      <p:sp>
        <p:nvSpPr>
          <p:cNvPr id="9" name="Kartica 142"/>
          <p:cNvSpPr/>
          <p:nvPr/>
        </p:nvSpPr>
        <p:spPr>
          <a:xfrm>
            <a:off x="457200" y="2788920"/>
            <a:ext cx="25603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898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 – 1023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Dobro poznati portovi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Standardne sistemske usluge (HTTP, DNS, SMTP…)</a:t>
            </a:r>
            <a:endParaRPr lang="en-US" sz="1300" dirty="0"/>
          </a:p>
        </p:txBody>
      </p:sp>
      <p:sp>
        <p:nvSpPr>
          <p:cNvPr id="13" name="Kartica 143"/>
          <p:cNvSpPr/>
          <p:nvPr/>
        </p:nvSpPr>
        <p:spPr>
          <a:xfrm>
            <a:off x="3291840" y="2788920"/>
            <a:ext cx="25603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2898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1024 – 49151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Registrovani portovi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Dodeljeni pojedinim aplikacijama i servisima</a:t>
            </a:r>
            <a:endParaRPr lang="en-US" sz="1300" dirty="0"/>
          </a:p>
        </p:txBody>
      </p:sp>
      <p:sp>
        <p:nvSpPr>
          <p:cNvPr id="17" name="Kartica 144"/>
          <p:cNvSpPr/>
          <p:nvPr/>
        </p:nvSpPr>
        <p:spPr>
          <a:xfrm>
            <a:off x="6126480" y="2788920"/>
            <a:ext cx="25603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2898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49152 – 65535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Dinamički (privremeni)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Klijent ih dobija privremeno, za trajanje veze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Najpoznatiji protokoli aplikacionog sloja</a:t>
            </a:r>
            <a:endParaRPr lang="en-US" sz="3000" dirty="0"/>
          </a:p>
        </p:txBody>
      </p:sp>
      <p:sp>
        <p:nvSpPr>
          <p:cNvPr id="3" name="Kartica 145"/>
          <p:cNvSpPr/>
          <p:nvPr/>
        </p:nvSpPr>
        <p:spPr>
          <a:xfrm>
            <a:off x="457200" y="1143000"/>
            <a:ext cx="2606040" cy="1536192"/>
          </a:xfrm>
          <a:prstGeom prst="roundRect">
            <a:avLst>
              <a:gd name="adj" fmla="val 5952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21792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HTTP</a:t>
            </a:r>
            <a:endParaRPr lang="en-US" sz="2000" dirty="0"/>
          </a:p>
        </p:txBody>
      </p:sp>
      <p:sp>
        <p:nvSpPr>
          <p:cNvPr id="5" name="Port oznaka 146"/>
          <p:cNvSpPr/>
          <p:nvPr/>
        </p:nvSpPr>
        <p:spPr>
          <a:xfrm>
            <a:off x="1801368" y="1316736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TCP 80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83080"/>
            <a:ext cx="2276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Prenos web stranica između pregledača i web servera</a:t>
            </a:r>
            <a:endParaRPr lang="en-US" sz="1400" dirty="0"/>
          </a:p>
        </p:txBody>
      </p:sp>
      <p:sp>
        <p:nvSpPr>
          <p:cNvPr id="7" name="Kartica 147"/>
          <p:cNvSpPr/>
          <p:nvPr/>
        </p:nvSpPr>
        <p:spPr>
          <a:xfrm>
            <a:off x="3268980" y="1143000"/>
            <a:ext cx="2606040" cy="1536192"/>
          </a:xfrm>
          <a:prstGeom prst="roundRect">
            <a:avLst>
              <a:gd name="adj" fmla="val 5952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33572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HTTPS</a:t>
            </a:r>
            <a:endParaRPr lang="en-US" sz="2000" dirty="0"/>
          </a:p>
        </p:txBody>
      </p:sp>
      <p:sp>
        <p:nvSpPr>
          <p:cNvPr id="9" name="Port oznaka 148"/>
          <p:cNvSpPr/>
          <p:nvPr/>
        </p:nvSpPr>
        <p:spPr>
          <a:xfrm>
            <a:off x="4613148" y="1316736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TCP 443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33572" y="1783080"/>
            <a:ext cx="2276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 zaštićen TLS šifrovanjem i proverom identiteta servera</a:t>
            </a:r>
            <a:endParaRPr lang="en-US" sz="1400" dirty="0"/>
          </a:p>
        </p:txBody>
      </p:sp>
      <p:sp>
        <p:nvSpPr>
          <p:cNvPr id="11" name="Kartica 149"/>
          <p:cNvSpPr/>
          <p:nvPr/>
        </p:nvSpPr>
        <p:spPr>
          <a:xfrm>
            <a:off x="6080760" y="1143000"/>
            <a:ext cx="2606040" cy="1536192"/>
          </a:xfrm>
          <a:prstGeom prst="roundRect">
            <a:avLst>
              <a:gd name="adj" fmla="val 5952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45352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DNS</a:t>
            </a:r>
            <a:endParaRPr lang="en-US" sz="2000" dirty="0"/>
          </a:p>
        </p:txBody>
      </p:sp>
      <p:sp>
        <p:nvSpPr>
          <p:cNvPr id="13" name="Port oznaka 150"/>
          <p:cNvSpPr/>
          <p:nvPr/>
        </p:nvSpPr>
        <p:spPr>
          <a:xfrm>
            <a:off x="7424928" y="1316736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UDP/TCP 53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1783080"/>
            <a:ext cx="2276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Prevodi imena domena (npr. www.example.com) u IP adrese</a:t>
            </a:r>
            <a:endParaRPr lang="en-US" sz="1400" dirty="0"/>
          </a:p>
        </p:txBody>
      </p:sp>
      <p:sp>
        <p:nvSpPr>
          <p:cNvPr id="15" name="Kartica 151"/>
          <p:cNvSpPr/>
          <p:nvPr/>
        </p:nvSpPr>
        <p:spPr>
          <a:xfrm>
            <a:off x="457200" y="2953512"/>
            <a:ext cx="2606040" cy="1536192"/>
          </a:xfrm>
          <a:prstGeom prst="roundRect">
            <a:avLst>
              <a:gd name="adj" fmla="val 5952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1792" y="30906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FTP</a:t>
            </a:r>
            <a:endParaRPr lang="en-US" sz="2000" dirty="0"/>
          </a:p>
        </p:txBody>
      </p:sp>
      <p:sp>
        <p:nvSpPr>
          <p:cNvPr id="17" name="Port oznaka 152"/>
          <p:cNvSpPr/>
          <p:nvPr/>
        </p:nvSpPr>
        <p:spPr>
          <a:xfrm>
            <a:off x="1801368" y="3127248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TCP 20, 21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593592"/>
            <a:ext cx="2276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Prenos fajlova; port 21 za komande, port 20 za podatke</a:t>
            </a:r>
            <a:endParaRPr lang="en-US" sz="1400" dirty="0"/>
          </a:p>
        </p:txBody>
      </p:sp>
      <p:sp>
        <p:nvSpPr>
          <p:cNvPr id="19" name="Kartica 153"/>
          <p:cNvSpPr/>
          <p:nvPr/>
        </p:nvSpPr>
        <p:spPr>
          <a:xfrm>
            <a:off x="3268980" y="2953512"/>
            <a:ext cx="2606040" cy="1536192"/>
          </a:xfrm>
          <a:prstGeom prst="roundRect">
            <a:avLst>
              <a:gd name="adj" fmla="val 5952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33572" y="30906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SMTP</a:t>
            </a:r>
            <a:endParaRPr lang="en-US" sz="2000" dirty="0"/>
          </a:p>
        </p:txBody>
      </p:sp>
      <p:sp>
        <p:nvSpPr>
          <p:cNvPr id="21" name="Port oznaka 154"/>
          <p:cNvSpPr/>
          <p:nvPr/>
        </p:nvSpPr>
        <p:spPr>
          <a:xfrm>
            <a:off x="4613148" y="3127248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TCP 25 (587)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33572" y="3593592"/>
            <a:ext cx="2276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Slanje i prosleđivanje elektronske pošte između servera</a:t>
            </a:r>
            <a:endParaRPr lang="en-US" sz="1400" dirty="0"/>
          </a:p>
        </p:txBody>
      </p:sp>
      <p:sp>
        <p:nvSpPr>
          <p:cNvPr id="23" name="Kartica 155"/>
          <p:cNvSpPr/>
          <p:nvPr/>
        </p:nvSpPr>
        <p:spPr>
          <a:xfrm>
            <a:off x="6080760" y="2953512"/>
            <a:ext cx="2606040" cy="1536192"/>
          </a:xfrm>
          <a:prstGeom prst="roundRect">
            <a:avLst>
              <a:gd name="adj" fmla="val 5952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245352" y="30906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DHCP</a:t>
            </a:r>
            <a:endParaRPr lang="en-US" sz="2000" dirty="0"/>
          </a:p>
        </p:txBody>
      </p:sp>
      <p:sp>
        <p:nvSpPr>
          <p:cNvPr id="25" name="Port oznaka 156"/>
          <p:cNvSpPr/>
          <p:nvPr/>
        </p:nvSpPr>
        <p:spPr>
          <a:xfrm>
            <a:off x="7424928" y="3127248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UDP 67, 68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45352" y="3593592"/>
            <a:ext cx="2276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Automatski dodeljuje IP adresu, masku, gateway i DNS server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Zaključak</a:t>
            </a:r>
            <a:endParaRPr lang="en-US" sz="3000" dirty="0"/>
          </a:p>
        </p:txBody>
      </p:sp>
      <p:sp>
        <p:nvSpPr>
          <p:cNvPr id="3" name="Zaključak kartica 157"/>
          <p:cNvSpPr/>
          <p:nvPr/>
        </p:nvSpPr>
        <p:spPr>
          <a:xfrm>
            <a:off x="45720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</p:spPr>
      </p:sp>
      <p:sp>
        <p:nvSpPr>
          <p:cNvPr id="4" name="Čvor 158"/>
          <p:cNvSpPr/>
          <p:nvPr/>
        </p:nvSpPr>
        <p:spPr>
          <a:xfrm>
            <a:off x="662940" y="1737360"/>
            <a:ext cx="502920" cy="5029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173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TCP/IP je praktičan model sa 4 sloja na kome radi ceo Internet</a:t>
            </a:r>
            <a:endParaRPr lang="en-US" sz="1600" dirty="0"/>
          </a:p>
        </p:txBody>
      </p:sp>
      <p:sp>
        <p:nvSpPr>
          <p:cNvPr id="6" name="Zaključak kartica 159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</p:spPr>
      </p:sp>
      <p:sp>
        <p:nvSpPr>
          <p:cNvPr id="7" name="Čvor 160"/>
          <p:cNvSpPr/>
          <p:nvPr/>
        </p:nvSpPr>
        <p:spPr>
          <a:xfrm>
            <a:off x="4914900" y="173736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4173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IP adresira i rutira pakete, a ARP povezuje IP adrese sa MAC adresama</a:t>
            </a:r>
            <a:endParaRPr lang="en-US" sz="1600" dirty="0"/>
          </a:p>
        </p:txBody>
      </p:sp>
      <p:sp>
        <p:nvSpPr>
          <p:cNvPr id="9" name="Zaključak kartica 161"/>
          <p:cNvSpPr/>
          <p:nvPr/>
        </p:nvSpPr>
        <p:spPr>
          <a:xfrm>
            <a:off x="457200" y="306324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</p:spPr>
      </p:sp>
      <p:sp>
        <p:nvSpPr>
          <p:cNvPr id="10" name="Čvor 162"/>
          <p:cNvSpPr/>
          <p:nvPr/>
        </p:nvSpPr>
        <p:spPr>
          <a:xfrm>
            <a:off x="662940" y="361188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918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TCP donosi pouzdanost, UDP brzinu; izbor zavisi od aplikacije</a:t>
            </a:r>
            <a:endParaRPr lang="en-US" sz="1600" dirty="0"/>
          </a:p>
        </p:txBody>
      </p:sp>
      <p:sp>
        <p:nvSpPr>
          <p:cNvPr id="12" name="Zaključak kartica 163"/>
          <p:cNvSpPr/>
          <p:nvPr/>
        </p:nvSpPr>
        <p:spPr>
          <a:xfrm>
            <a:off x="4709160" y="306324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</p:spPr>
      </p:sp>
      <p:sp>
        <p:nvSpPr>
          <p:cNvPr id="13" name="Čvor 164"/>
          <p:cNvSpPr/>
          <p:nvPr/>
        </p:nvSpPr>
        <p:spPr>
          <a:xfrm>
            <a:off x="4914900" y="361188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32918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Portovi i protokoli aplikacionog sloja povezuju mrežu sa korisničkim programima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reze">
  <a:themeElements>
    <a:clrScheme name="Mreze">
      <a:dk1>
        <a:srgbClr val="1B2430"/>
      </a:dk1>
      <a:lt1>
        <a:srgbClr val="FFFFFF"/>
      </a:lt1>
      <a:dk2>
        <a:srgbClr val="0E3B43"/>
      </a:dk2>
      <a:lt2>
        <a:srgbClr val="EAF2F2"/>
      </a:lt2>
      <a:accent1>
        <a:srgbClr val="0F8B8D"/>
      </a:accent1>
      <a:accent2>
        <a:srgbClr val="F2A541"/>
      </a:accent2>
      <a:accent3>
        <a:srgbClr val="D9534F"/>
      </a:accent3>
      <a:accent4>
        <a:srgbClr val="3E8E5E"/>
      </a:accent4>
      <a:accent5>
        <a:srgbClr val="5C6B73"/>
      </a:accent5>
      <a:accent6>
        <a:srgbClr val="9FD3D5"/>
      </a:accent6>
      <a:hlink>
        <a:srgbClr val="0F8B8D"/>
      </a:hlink>
      <a:folHlink>
        <a:srgbClr val="5C6B73"/>
      </a:folHlink>
    </a:clrScheme>
    <a:fontScheme name="Mrez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TCP/IP protokol</dc:title>
  <dc:subject>PptxGenJS Presentation</dc:subject>
  <dc:creator>Milos Lazic</dc:creator>
  <cp:lastModifiedBy>Milos Lazic</cp:lastModifiedBy>
  <cp:revision>1</cp:revision>
  <dcterms:created xsi:type="dcterms:W3CDTF">2026-10-27T19:47:18Z</dcterms:created>
  <dcterms:modified xsi:type="dcterms:W3CDTF">2026-10-27T19:47:18Z</dcterms:modified>
</cp:coreProperties>
</file>